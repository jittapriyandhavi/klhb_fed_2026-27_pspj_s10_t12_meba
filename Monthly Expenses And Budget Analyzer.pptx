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3" r:id="rId6"/>
    <p:sldId id="264" r:id="rId7"/>
    <p:sldId id="265" r:id="rId8"/>
    <p:sldId id="266" r:id="rId9"/>
    <p:sldId id="267" r:id="rId10"/>
    <p:sldId id="261" r:id="rId11"/>
    <p:sldId id="262" r:id="rId12"/>
    <p:sldId id="269" r:id="rId13"/>
    <p:sldId id="270" r:id="rId14"/>
    <p:sldId id="26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87" d="100"/>
          <a:sy n="87" d="100"/>
        </p:scale>
        <p:origin x="408"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29E2F-12A4-F469-33D9-44AB0A7002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3F4FB41-D1F4-71E3-3F49-70E36358A70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14D0528-4C4A-7495-4E14-953922530870}"/>
              </a:ext>
            </a:extLst>
          </p:cNvPr>
          <p:cNvSpPr>
            <a:spLocks noGrp="1"/>
          </p:cNvSpPr>
          <p:nvPr>
            <p:ph type="dt" sz="half" idx="10"/>
          </p:nvPr>
        </p:nvSpPr>
        <p:spPr/>
        <p:txBody>
          <a:bodyPr/>
          <a:lstStyle/>
          <a:p>
            <a:fld id="{34280BBC-9828-409C-B78E-60D30026F2E6}" type="datetimeFigureOut">
              <a:rPr lang="en-US" smtClean="0"/>
              <a:t>9/21/2026</a:t>
            </a:fld>
            <a:endParaRPr lang="en-US"/>
          </a:p>
        </p:txBody>
      </p:sp>
      <p:sp>
        <p:nvSpPr>
          <p:cNvPr id="5" name="Footer Placeholder 4">
            <a:extLst>
              <a:ext uri="{FF2B5EF4-FFF2-40B4-BE49-F238E27FC236}">
                <a16:creationId xmlns:a16="http://schemas.microsoft.com/office/drawing/2014/main" id="{1E9C1076-0B03-BF78-8F4F-89546FD136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001733-9E05-93B5-D521-8BA7777FB084}"/>
              </a:ext>
            </a:extLst>
          </p:cNvPr>
          <p:cNvSpPr>
            <a:spLocks noGrp="1"/>
          </p:cNvSpPr>
          <p:nvPr>
            <p:ph type="sldNum" sz="quarter" idx="12"/>
          </p:nvPr>
        </p:nvSpPr>
        <p:spPr/>
        <p:txBody>
          <a:bodyPr/>
          <a:lstStyle/>
          <a:p>
            <a:fld id="{6ED66784-9CCF-448E-B6FA-A3A249FC5C16}" type="slidenum">
              <a:rPr lang="en-US" smtClean="0"/>
              <a:t>‹#›</a:t>
            </a:fld>
            <a:endParaRPr lang="en-US"/>
          </a:p>
        </p:txBody>
      </p:sp>
    </p:spTree>
    <p:extLst>
      <p:ext uri="{BB962C8B-B14F-4D97-AF65-F5344CB8AC3E}">
        <p14:creationId xmlns:p14="http://schemas.microsoft.com/office/powerpoint/2010/main" val="30789982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8C9A4-6B97-CE0F-877E-F482EF2AB3C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A760353-BA30-5DF3-F611-273CFB9EDD7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6240A5-0938-1F43-A581-078184DF43D2}"/>
              </a:ext>
            </a:extLst>
          </p:cNvPr>
          <p:cNvSpPr>
            <a:spLocks noGrp="1"/>
          </p:cNvSpPr>
          <p:nvPr>
            <p:ph type="dt" sz="half" idx="10"/>
          </p:nvPr>
        </p:nvSpPr>
        <p:spPr/>
        <p:txBody>
          <a:bodyPr/>
          <a:lstStyle/>
          <a:p>
            <a:fld id="{34280BBC-9828-409C-B78E-60D30026F2E6}" type="datetimeFigureOut">
              <a:rPr lang="en-US" smtClean="0"/>
              <a:t>9/21/2026</a:t>
            </a:fld>
            <a:endParaRPr lang="en-US"/>
          </a:p>
        </p:txBody>
      </p:sp>
      <p:sp>
        <p:nvSpPr>
          <p:cNvPr id="5" name="Footer Placeholder 4">
            <a:extLst>
              <a:ext uri="{FF2B5EF4-FFF2-40B4-BE49-F238E27FC236}">
                <a16:creationId xmlns:a16="http://schemas.microsoft.com/office/drawing/2014/main" id="{098DB67A-A8FF-1CDD-F40E-183C490EE3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181ACB-D5B8-2BA2-2649-90AD51E8A146}"/>
              </a:ext>
            </a:extLst>
          </p:cNvPr>
          <p:cNvSpPr>
            <a:spLocks noGrp="1"/>
          </p:cNvSpPr>
          <p:nvPr>
            <p:ph type="sldNum" sz="quarter" idx="12"/>
          </p:nvPr>
        </p:nvSpPr>
        <p:spPr/>
        <p:txBody>
          <a:bodyPr/>
          <a:lstStyle/>
          <a:p>
            <a:fld id="{6ED66784-9CCF-448E-B6FA-A3A249FC5C16}" type="slidenum">
              <a:rPr lang="en-US" smtClean="0"/>
              <a:t>‹#›</a:t>
            </a:fld>
            <a:endParaRPr lang="en-US"/>
          </a:p>
        </p:txBody>
      </p:sp>
    </p:spTree>
    <p:extLst>
      <p:ext uri="{BB962C8B-B14F-4D97-AF65-F5344CB8AC3E}">
        <p14:creationId xmlns:p14="http://schemas.microsoft.com/office/powerpoint/2010/main" val="18068010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0F22F-2D82-4EC4-8F98-ACC324ACFBE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05CE76D-B337-5006-6660-ADAD131A275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CCB1BD8-74B9-604E-F67F-E24167A14E5D}"/>
              </a:ext>
            </a:extLst>
          </p:cNvPr>
          <p:cNvSpPr>
            <a:spLocks noGrp="1"/>
          </p:cNvSpPr>
          <p:nvPr>
            <p:ph type="dt" sz="half" idx="10"/>
          </p:nvPr>
        </p:nvSpPr>
        <p:spPr/>
        <p:txBody>
          <a:bodyPr/>
          <a:lstStyle/>
          <a:p>
            <a:fld id="{34280BBC-9828-409C-B78E-60D30026F2E6}" type="datetimeFigureOut">
              <a:rPr lang="en-US" smtClean="0"/>
              <a:t>9/21/2026</a:t>
            </a:fld>
            <a:endParaRPr lang="en-US"/>
          </a:p>
        </p:txBody>
      </p:sp>
      <p:sp>
        <p:nvSpPr>
          <p:cNvPr id="5" name="Footer Placeholder 4">
            <a:extLst>
              <a:ext uri="{FF2B5EF4-FFF2-40B4-BE49-F238E27FC236}">
                <a16:creationId xmlns:a16="http://schemas.microsoft.com/office/drawing/2014/main" id="{667311CD-8FCC-3296-DBE7-AB9DA61BB4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D25C40-4BD5-E815-C514-54BC24D747EF}"/>
              </a:ext>
            </a:extLst>
          </p:cNvPr>
          <p:cNvSpPr>
            <a:spLocks noGrp="1"/>
          </p:cNvSpPr>
          <p:nvPr>
            <p:ph type="sldNum" sz="quarter" idx="12"/>
          </p:nvPr>
        </p:nvSpPr>
        <p:spPr/>
        <p:txBody>
          <a:bodyPr/>
          <a:lstStyle/>
          <a:p>
            <a:fld id="{6ED66784-9CCF-448E-B6FA-A3A249FC5C16}" type="slidenum">
              <a:rPr lang="en-US" smtClean="0"/>
              <a:t>‹#›</a:t>
            </a:fld>
            <a:endParaRPr lang="en-US"/>
          </a:p>
        </p:txBody>
      </p:sp>
    </p:spTree>
    <p:extLst>
      <p:ext uri="{BB962C8B-B14F-4D97-AF65-F5344CB8AC3E}">
        <p14:creationId xmlns:p14="http://schemas.microsoft.com/office/powerpoint/2010/main" val="40437836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5DB84-45AF-3ABF-2294-AD45A90C8C5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4FE86C-6EC6-8C28-6ED5-3CFE1F53C4F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9A2031D-1284-9314-987E-A9F3D81B91B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B1C8661-E31E-3B8E-4A3A-2663B24AE688}"/>
              </a:ext>
            </a:extLst>
          </p:cNvPr>
          <p:cNvSpPr>
            <a:spLocks noGrp="1"/>
          </p:cNvSpPr>
          <p:nvPr>
            <p:ph type="dt" sz="half" idx="10"/>
          </p:nvPr>
        </p:nvSpPr>
        <p:spPr/>
        <p:txBody>
          <a:bodyPr/>
          <a:lstStyle/>
          <a:p>
            <a:fld id="{34280BBC-9828-409C-B78E-60D30026F2E6}" type="datetimeFigureOut">
              <a:rPr lang="en-US" smtClean="0"/>
              <a:t>9/21/2026</a:t>
            </a:fld>
            <a:endParaRPr lang="en-US"/>
          </a:p>
        </p:txBody>
      </p:sp>
      <p:sp>
        <p:nvSpPr>
          <p:cNvPr id="6" name="Footer Placeholder 5">
            <a:extLst>
              <a:ext uri="{FF2B5EF4-FFF2-40B4-BE49-F238E27FC236}">
                <a16:creationId xmlns:a16="http://schemas.microsoft.com/office/drawing/2014/main" id="{A6269422-303B-6DFB-9A74-20F7949A82E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539670-7B80-854C-40D1-2E8F68D3D114}"/>
              </a:ext>
            </a:extLst>
          </p:cNvPr>
          <p:cNvSpPr>
            <a:spLocks noGrp="1"/>
          </p:cNvSpPr>
          <p:nvPr>
            <p:ph type="sldNum" sz="quarter" idx="12"/>
          </p:nvPr>
        </p:nvSpPr>
        <p:spPr/>
        <p:txBody>
          <a:bodyPr/>
          <a:lstStyle/>
          <a:p>
            <a:fld id="{6ED66784-9CCF-448E-B6FA-A3A249FC5C16}" type="slidenum">
              <a:rPr lang="en-US" smtClean="0"/>
              <a:t>‹#›</a:t>
            </a:fld>
            <a:endParaRPr lang="en-US"/>
          </a:p>
        </p:txBody>
      </p:sp>
    </p:spTree>
    <p:extLst>
      <p:ext uri="{BB962C8B-B14F-4D97-AF65-F5344CB8AC3E}">
        <p14:creationId xmlns:p14="http://schemas.microsoft.com/office/powerpoint/2010/main" val="34491440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4B654-2B9D-5617-FAB3-FBF27886417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5C58B6B-3974-F897-4FEF-0E9B7AC3C27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8BBDB6C-BEF8-929B-95C2-48C6768A6AF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8F126E7-7AEE-A637-B17D-BCC55129939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BE2E9F8-B82D-0287-1BF6-5A498FEEEBE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364E678-222B-D688-EDB5-352659DD185B}"/>
              </a:ext>
            </a:extLst>
          </p:cNvPr>
          <p:cNvSpPr>
            <a:spLocks noGrp="1"/>
          </p:cNvSpPr>
          <p:nvPr>
            <p:ph type="dt" sz="half" idx="10"/>
          </p:nvPr>
        </p:nvSpPr>
        <p:spPr/>
        <p:txBody>
          <a:bodyPr/>
          <a:lstStyle/>
          <a:p>
            <a:fld id="{34280BBC-9828-409C-B78E-60D30026F2E6}" type="datetimeFigureOut">
              <a:rPr lang="en-US" smtClean="0"/>
              <a:t>9/21/2026</a:t>
            </a:fld>
            <a:endParaRPr lang="en-US"/>
          </a:p>
        </p:txBody>
      </p:sp>
      <p:sp>
        <p:nvSpPr>
          <p:cNvPr id="8" name="Footer Placeholder 7">
            <a:extLst>
              <a:ext uri="{FF2B5EF4-FFF2-40B4-BE49-F238E27FC236}">
                <a16:creationId xmlns:a16="http://schemas.microsoft.com/office/drawing/2014/main" id="{C7FEAD12-A3C5-82CB-C441-6474BDB9F70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95AEB8D-F068-8BDC-DA5A-CDDAFBDE6682}"/>
              </a:ext>
            </a:extLst>
          </p:cNvPr>
          <p:cNvSpPr>
            <a:spLocks noGrp="1"/>
          </p:cNvSpPr>
          <p:nvPr>
            <p:ph type="sldNum" sz="quarter" idx="12"/>
          </p:nvPr>
        </p:nvSpPr>
        <p:spPr/>
        <p:txBody>
          <a:bodyPr/>
          <a:lstStyle/>
          <a:p>
            <a:fld id="{6ED66784-9CCF-448E-B6FA-A3A249FC5C16}" type="slidenum">
              <a:rPr lang="en-US" smtClean="0"/>
              <a:t>‹#›</a:t>
            </a:fld>
            <a:endParaRPr lang="en-US"/>
          </a:p>
        </p:txBody>
      </p:sp>
    </p:spTree>
    <p:extLst>
      <p:ext uri="{BB962C8B-B14F-4D97-AF65-F5344CB8AC3E}">
        <p14:creationId xmlns:p14="http://schemas.microsoft.com/office/powerpoint/2010/main" val="23569551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DA023-5783-0860-2BEC-56FD89C23EE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A833AC3-B54B-7C30-4E72-62A730A9E3CB}"/>
              </a:ext>
            </a:extLst>
          </p:cNvPr>
          <p:cNvSpPr>
            <a:spLocks noGrp="1"/>
          </p:cNvSpPr>
          <p:nvPr>
            <p:ph type="dt" sz="half" idx="10"/>
          </p:nvPr>
        </p:nvSpPr>
        <p:spPr/>
        <p:txBody>
          <a:bodyPr/>
          <a:lstStyle/>
          <a:p>
            <a:fld id="{34280BBC-9828-409C-B78E-60D30026F2E6}" type="datetimeFigureOut">
              <a:rPr lang="en-US" smtClean="0"/>
              <a:t>9/21/2026</a:t>
            </a:fld>
            <a:endParaRPr lang="en-US"/>
          </a:p>
        </p:txBody>
      </p:sp>
      <p:sp>
        <p:nvSpPr>
          <p:cNvPr id="4" name="Footer Placeholder 3">
            <a:extLst>
              <a:ext uri="{FF2B5EF4-FFF2-40B4-BE49-F238E27FC236}">
                <a16:creationId xmlns:a16="http://schemas.microsoft.com/office/drawing/2014/main" id="{5CC08FFA-5CC1-F9BD-9767-69A79548CCA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83709BC-EB7C-694C-7B4C-D974FE2BAA10}"/>
              </a:ext>
            </a:extLst>
          </p:cNvPr>
          <p:cNvSpPr>
            <a:spLocks noGrp="1"/>
          </p:cNvSpPr>
          <p:nvPr>
            <p:ph type="sldNum" sz="quarter" idx="12"/>
          </p:nvPr>
        </p:nvSpPr>
        <p:spPr/>
        <p:txBody>
          <a:bodyPr/>
          <a:lstStyle/>
          <a:p>
            <a:fld id="{6ED66784-9CCF-448E-B6FA-A3A249FC5C16}" type="slidenum">
              <a:rPr lang="en-US" smtClean="0"/>
              <a:t>‹#›</a:t>
            </a:fld>
            <a:endParaRPr lang="en-US"/>
          </a:p>
        </p:txBody>
      </p:sp>
    </p:spTree>
    <p:extLst>
      <p:ext uri="{BB962C8B-B14F-4D97-AF65-F5344CB8AC3E}">
        <p14:creationId xmlns:p14="http://schemas.microsoft.com/office/powerpoint/2010/main" val="32136704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F333401-2AE1-B096-96B9-B36786FADAC1}"/>
              </a:ext>
            </a:extLst>
          </p:cNvPr>
          <p:cNvSpPr>
            <a:spLocks noGrp="1"/>
          </p:cNvSpPr>
          <p:nvPr>
            <p:ph type="dt" sz="half" idx="10"/>
          </p:nvPr>
        </p:nvSpPr>
        <p:spPr/>
        <p:txBody>
          <a:bodyPr/>
          <a:lstStyle/>
          <a:p>
            <a:fld id="{34280BBC-9828-409C-B78E-60D30026F2E6}" type="datetimeFigureOut">
              <a:rPr lang="en-US" smtClean="0"/>
              <a:t>9/21/2026</a:t>
            </a:fld>
            <a:endParaRPr lang="en-US"/>
          </a:p>
        </p:txBody>
      </p:sp>
      <p:sp>
        <p:nvSpPr>
          <p:cNvPr id="3" name="Footer Placeholder 2">
            <a:extLst>
              <a:ext uri="{FF2B5EF4-FFF2-40B4-BE49-F238E27FC236}">
                <a16:creationId xmlns:a16="http://schemas.microsoft.com/office/drawing/2014/main" id="{329E1EDB-B54F-061C-054F-6D806C55FB6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1841424-2435-5391-EC7E-5412DD0E40A7}"/>
              </a:ext>
            </a:extLst>
          </p:cNvPr>
          <p:cNvSpPr>
            <a:spLocks noGrp="1"/>
          </p:cNvSpPr>
          <p:nvPr>
            <p:ph type="sldNum" sz="quarter" idx="12"/>
          </p:nvPr>
        </p:nvSpPr>
        <p:spPr/>
        <p:txBody>
          <a:bodyPr/>
          <a:lstStyle/>
          <a:p>
            <a:fld id="{6ED66784-9CCF-448E-B6FA-A3A249FC5C16}" type="slidenum">
              <a:rPr lang="en-US" smtClean="0"/>
              <a:t>‹#›</a:t>
            </a:fld>
            <a:endParaRPr lang="en-US"/>
          </a:p>
        </p:txBody>
      </p:sp>
    </p:spTree>
    <p:extLst>
      <p:ext uri="{BB962C8B-B14F-4D97-AF65-F5344CB8AC3E}">
        <p14:creationId xmlns:p14="http://schemas.microsoft.com/office/powerpoint/2010/main" val="38556764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D89A0-33C6-4F3F-320A-23F71634966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970532D-19B8-3B69-2A77-C9A77D267E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FA306D1-30F3-A71B-1270-AFD9055B74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E95A91-FC32-C614-1A97-5331E4BD5661}"/>
              </a:ext>
            </a:extLst>
          </p:cNvPr>
          <p:cNvSpPr>
            <a:spLocks noGrp="1"/>
          </p:cNvSpPr>
          <p:nvPr>
            <p:ph type="dt" sz="half" idx="10"/>
          </p:nvPr>
        </p:nvSpPr>
        <p:spPr/>
        <p:txBody>
          <a:bodyPr/>
          <a:lstStyle/>
          <a:p>
            <a:fld id="{34280BBC-9828-409C-B78E-60D30026F2E6}" type="datetimeFigureOut">
              <a:rPr lang="en-US" smtClean="0"/>
              <a:t>9/21/2026</a:t>
            </a:fld>
            <a:endParaRPr lang="en-US"/>
          </a:p>
        </p:txBody>
      </p:sp>
      <p:sp>
        <p:nvSpPr>
          <p:cNvPr id="6" name="Footer Placeholder 5">
            <a:extLst>
              <a:ext uri="{FF2B5EF4-FFF2-40B4-BE49-F238E27FC236}">
                <a16:creationId xmlns:a16="http://schemas.microsoft.com/office/drawing/2014/main" id="{31D88E31-9E8A-D864-93BB-A366BA13A0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EA732CE-CCF2-E8FD-AD0B-60373B2D551F}"/>
              </a:ext>
            </a:extLst>
          </p:cNvPr>
          <p:cNvSpPr>
            <a:spLocks noGrp="1"/>
          </p:cNvSpPr>
          <p:nvPr>
            <p:ph type="sldNum" sz="quarter" idx="12"/>
          </p:nvPr>
        </p:nvSpPr>
        <p:spPr/>
        <p:txBody>
          <a:bodyPr/>
          <a:lstStyle/>
          <a:p>
            <a:fld id="{6ED66784-9CCF-448E-B6FA-A3A249FC5C16}" type="slidenum">
              <a:rPr lang="en-US" smtClean="0"/>
              <a:t>‹#›</a:t>
            </a:fld>
            <a:endParaRPr lang="en-US"/>
          </a:p>
        </p:txBody>
      </p:sp>
    </p:spTree>
    <p:extLst>
      <p:ext uri="{BB962C8B-B14F-4D97-AF65-F5344CB8AC3E}">
        <p14:creationId xmlns:p14="http://schemas.microsoft.com/office/powerpoint/2010/main" val="23804642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D5480-4273-6C2E-9644-E5AA12A6D9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EC9313A-92B5-F88D-BF45-5229E48E6D5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3192347-3840-8EAE-F495-AE6A6E727F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C5ACF1-92CF-5D69-CF0D-FD3DC7B318D6}"/>
              </a:ext>
            </a:extLst>
          </p:cNvPr>
          <p:cNvSpPr>
            <a:spLocks noGrp="1"/>
          </p:cNvSpPr>
          <p:nvPr>
            <p:ph type="dt" sz="half" idx="10"/>
          </p:nvPr>
        </p:nvSpPr>
        <p:spPr/>
        <p:txBody>
          <a:bodyPr/>
          <a:lstStyle/>
          <a:p>
            <a:fld id="{34280BBC-9828-409C-B78E-60D30026F2E6}" type="datetimeFigureOut">
              <a:rPr lang="en-US" smtClean="0"/>
              <a:t>9/21/2026</a:t>
            </a:fld>
            <a:endParaRPr lang="en-US"/>
          </a:p>
        </p:txBody>
      </p:sp>
      <p:sp>
        <p:nvSpPr>
          <p:cNvPr id="6" name="Footer Placeholder 5">
            <a:extLst>
              <a:ext uri="{FF2B5EF4-FFF2-40B4-BE49-F238E27FC236}">
                <a16:creationId xmlns:a16="http://schemas.microsoft.com/office/drawing/2014/main" id="{03F2D35F-B937-F63A-A582-3017A822337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3A54260-6120-9458-180B-F50FF2FFD64F}"/>
              </a:ext>
            </a:extLst>
          </p:cNvPr>
          <p:cNvSpPr>
            <a:spLocks noGrp="1"/>
          </p:cNvSpPr>
          <p:nvPr>
            <p:ph type="sldNum" sz="quarter" idx="12"/>
          </p:nvPr>
        </p:nvSpPr>
        <p:spPr/>
        <p:txBody>
          <a:bodyPr/>
          <a:lstStyle/>
          <a:p>
            <a:fld id="{6ED66784-9CCF-448E-B6FA-A3A249FC5C16}" type="slidenum">
              <a:rPr lang="en-US" smtClean="0"/>
              <a:t>‹#›</a:t>
            </a:fld>
            <a:endParaRPr lang="en-US"/>
          </a:p>
        </p:txBody>
      </p:sp>
    </p:spTree>
    <p:extLst>
      <p:ext uri="{BB962C8B-B14F-4D97-AF65-F5344CB8AC3E}">
        <p14:creationId xmlns:p14="http://schemas.microsoft.com/office/powerpoint/2010/main" val="2443531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443E52-B138-B119-3816-FDBA99619EB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AAA3A60-7E1D-9AB3-DC89-CCB877664FD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2F2C51-0232-E83F-508C-64F2C74E8E7A}"/>
              </a:ext>
            </a:extLst>
          </p:cNvPr>
          <p:cNvSpPr>
            <a:spLocks noGrp="1"/>
          </p:cNvSpPr>
          <p:nvPr>
            <p:ph type="dt" sz="half" idx="10"/>
          </p:nvPr>
        </p:nvSpPr>
        <p:spPr/>
        <p:txBody>
          <a:bodyPr/>
          <a:lstStyle/>
          <a:p>
            <a:fld id="{34280BBC-9828-409C-B78E-60D30026F2E6}" type="datetimeFigureOut">
              <a:rPr lang="en-US" smtClean="0"/>
              <a:t>9/21/2026</a:t>
            </a:fld>
            <a:endParaRPr lang="en-US"/>
          </a:p>
        </p:txBody>
      </p:sp>
      <p:sp>
        <p:nvSpPr>
          <p:cNvPr id="5" name="Footer Placeholder 4">
            <a:extLst>
              <a:ext uri="{FF2B5EF4-FFF2-40B4-BE49-F238E27FC236}">
                <a16:creationId xmlns:a16="http://schemas.microsoft.com/office/drawing/2014/main" id="{D1B4C5DF-9DF8-B00D-8F36-22FBD7F5A4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FDFC73-17FF-7CD9-47E6-9FAF0BBF57AA}"/>
              </a:ext>
            </a:extLst>
          </p:cNvPr>
          <p:cNvSpPr>
            <a:spLocks noGrp="1"/>
          </p:cNvSpPr>
          <p:nvPr>
            <p:ph type="sldNum" sz="quarter" idx="12"/>
          </p:nvPr>
        </p:nvSpPr>
        <p:spPr/>
        <p:txBody>
          <a:bodyPr/>
          <a:lstStyle/>
          <a:p>
            <a:fld id="{6ED66784-9CCF-448E-B6FA-A3A249FC5C16}" type="slidenum">
              <a:rPr lang="en-US" smtClean="0"/>
              <a:t>‹#›</a:t>
            </a:fld>
            <a:endParaRPr lang="en-US"/>
          </a:p>
        </p:txBody>
      </p:sp>
    </p:spTree>
    <p:extLst>
      <p:ext uri="{BB962C8B-B14F-4D97-AF65-F5344CB8AC3E}">
        <p14:creationId xmlns:p14="http://schemas.microsoft.com/office/powerpoint/2010/main" val="40359752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700182F-874D-271D-C692-E93CE6239CC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1DE3A6F-4503-C3E4-B808-B87B9981019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B47D0B-2B2A-47A7-9DFC-3EE8C65FAB38}"/>
              </a:ext>
            </a:extLst>
          </p:cNvPr>
          <p:cNvSpPr>
            <a:spLocks noGrp="1"/>
          </p:cNvSpPr>
          <p:nvPr>
            <p:ph type="dt" sz="half" idx="10"/>
          </p:nvPr>
        </p:nvSpPr>
        <p:spPr/>
        <p:txBody>
          <a:bodyPr/>
          <a:lstStyle/>
          <a:p>
            <a:fld id="{34280BBC-9828-409C-B78E-60D30026F2E6}" type="datetimeFigureOut">
              <a:rPr lang="en-US" smtClean="0"/>
              <a:t>9/21/2026</a:t>
            </a:fld>
            <a:endParaRPr lang="en-US"/>
          </a:p>
        </p:txBody>
      </p:sp>
      <p:sp>
        <p:nvSpPr>
          <p:cNvPr id="5" name="Footer Placeholder 4">
            <a:extLst>
              <a:ext uri="{FF2B5EF4-FFF2-40B4-BE49-F238E27FC236}">
                <a16:creationId xmlns:a16="http://schemas.microsoft.com/office/drawing/2014/main" id="{DAA7710B-43AE-F5A0-9AA1-D96C430274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F312E8-739C-80B2-FDCE-52A86BBE1C4C}"/>
              </a:ext>
            </a:extLst>
          </p:cNvPr>
          <p:cNvSpPr>
            <a:spLocks noGrp="1"/>
          </p:cNvSpPr>
          <p:nvPr>
            <p:ph type="sldNum" sz="quarter" idx="12"/>
          </p:nvPr>
        </p:nvSpPr>
        <p:spPr/>
        <p:txBody>
          <a:bodyPr/>
          <a:lstStyle/>
          <a:p>
            <a:fld id="{6ED66784-9CCF-448E-B6FA-A3A249FC5C16}" type="slidenum">
              <a:rPr lang="en-US" smtClean="0"/>
              <a:t>‹#›</a:t>
            </a:fld>
            <a:endParaRPr lang="en-US"/>
          </a:p>
        </p:txBody>
      </p:sp>
    </p:spTree>
    <p:extLst>
      <p:ext uri="{BB962C8B-B14F-4D97-AF65-F5344CB8AC3E}">
        <p14:creationId xmlns:p14="http://schemas.microsoft.com/office/powerpoint/2010/main" val="37778803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AAB85B7-EB72-DB24-656D-1EA60368BD0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6DFC225-0AF6-4E63-3F3B-FC248ABB674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B55DE6-2C27-6DDF-AD4B-C48BCD92502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4280BBC-9828-409C-B78E-60D30026F2E6}" type="datetimeFigureOut">
              <a:rPr lang="en-US" smtClean="0"/>
              <a:t>9/21/2026</a:t>
            </a:fld>
            <a:endParaRPr lang="en-US"/>
          </a:p>
        </p:txBody>
      </p:sp>
      <p:sp>
        <p:nvSpPr>
          <p:cNvPr id="5" name="Footer Placeholder 4">
            <a:extLst>
              <a:ext uri="{FF2B5EF4-FFF2-40B4-BE49-F238E27FC236}">
                <a16:creationId xmlns:a16="http://schemas.microsoft.com/office/drawing/2014/main" id="{AE6808E5-F129-39CE-CB1E-EEF7604FF4A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8E40920-E337-457A-C014-4ACF3BF830C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ED66784-9CCF-448E-B6FA-A3A249FC5C16}" type="slidenum">
              <a:rPr lang="en-US" smtClean="0"/>
              <a:t>‹#›</a:t>
            </a:fld>
            <a:endParaRPr lang="en-US"/>
          </a:p>
        </p:txBody>
      </p:sp>
    </p:spTree>
    <p:extLst>
      <p:ext uri="{BB962C8B-B14F-4D97-AF65-F5344CB8AC3E}">
        <p14:creationId xmlns:p14="http://schemas.microsoft.com/office/powerpoint/2010/main" val="2266103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7432" y="1"/>
            <a:ext cx="12219432" cy="6865683"/>
            <a:chOff x="0" y="0"/>
            <a:chExt cx="24438864" cy="13731367"/>
          </a:xfrm>
        </p:grpSpPr>
        <p:sp>
          <p:nvSpPr>
            <p:cNvPr id="3" name="Freeform 3"/>
            <p:cNvSpPr/>
            <p:nvPr/>
          </p:nvSpPr>
          <p:spPr>
            <a:xfrm>
              <a:off x="0" y="0"/>
              <a:ext cx="24438863" cy="13731367"/>
            </a:xfrm>
            <a:custGeom>
              <a:avLst/>
              <a:gdLst/>
              <a:ahLst/>
              <a:cxnLst/>
              <a:rect l="l" t="t" r="r" b="b"/>
              <a:pathLst>
                <a:path w="24438863" h="13731367">
                  <a:moveTo>
                    <a:pt x="0" y="0"/>
                  </a:moveTo>
                  <a:lnTo>
                    <a:pt x="24438863" y="0"/>
                  </a:lnTo>
                  <a:lnTo>
                    <a:pt x="24438863" y="13731367"/>
                  </a:lnTo>
                  <a:lnTo>
                    <a:pt x="0" y="13731367"/>
                  </a:lnTo>
                  <a:lnTo>
                    <a:pt x="0" y="0"/>
                  </a:lnTo>
                  <a:close/>
                </a:path>
              </a:pathLst>
            </a:custGeom>
            <a:blipFill>
              <a:blip r:embed="rId2"/>
              <a:stretch>
                <a:fillRect t="-9326" b="-9326"/>
              </a:stretch>
            </a:blipFill>
          </p:spPr>
        </p:sp>
      </p:grpSp>
      <p:sp>
        <p:nvSpPr>
          <p:cNvPr id="4" name="TextBox 4"/>
          <p:cNvSpPr txBox="1"/>
          <p:nvPr/>
        </p:nvSpPr>
        <p:spPr>
          <a:xfrm>
            <a:off x="1534160" y="3269425"/>
            <a:ext cx="9834880" cy="1111907"/>
          </a:xfrm>
          <a:prstGeom prst="rect">
            <a:avLst/>
          </a:prstGeom>
        </p:spPr>
        <p:txBody>
          <a:bodyPr lIns="0" tIns="0" rIns="0" bIns="0" rtlCol="0" anchor="t">
            <a:spAutoFit/>
          </a:bodyPr>
          <a:lstStyle/>
          <a:p>
            <a:pPr>
              <a:lnSpc>
                <a:spcPts val="2880"/>
              </a:lnSpc>
            </a:pPr>
            <a:r>
              <a:rPr lang="en-US" sz="2400">
                <a:solidFill>
                  <a:srgbClr val="5D0DA5"/>
                </a:solidFill>
                <a:latin typeface="Bell MT" panose="02020503060305020303" pitchFamily="18" charset="0"/>
                <a:ea typeface="Arimo"/>
                <a:cs typeface="Arimo"/>
                <a:sym typeface="Arimo"/>
              </a:rPr>
              <a:t>Student Name  - Jitta Priyandhavi  Reddy	Roll No : 2620030561</a:t>
            </a:r>
          </a:p>
          <a:p>
            <a:pPr>
              <a:lnSpc>
                <a:spcPts val="2880"/>
              </a:lnSpc>
            </a:pPr>
            <a:r>
              <a:rPr lang="en-US" sz="2400">
                <a:solidFill>
                  <a:srgbClr val="5D0DA5"/>
                </a:solidFill>
                <a:latin typeface="Bell MT" panose="02020503060305020303" pitchFamily="18" charset="0"/>
                <a:ea typeface="Arimo"/>
                <a:cs typeface="Arimo"/>
                <a:sym typeface="Arimo"/>
              </a:rPr>
              <a:t>Student Name  - Kasala Rishabh Reddy	Roll No : 2620030474</a:t>
            </a:r>
          </a:p>
          <a:p>
            <a:pPr>
              <a:lnSpc>
                <a:spcPts val="2880"/>
              </a:lnSpc>
            </a:pPr>
            <a:r>
              <a:rPr lang="en-US" sz="2400">
                <a:solidFill>
                  <a:srgbClr val="5D0DA5"/>
                </a:solidFill>
                <a:latin typeface="Bell MT" panose="02020503060305020303" pitchFamily="18" charset="0"/>
                <a:ea typeface="Arimo"/>
                <a:cs typeface="Arimo"/>
                <a:sym typeface="Arimo"/>
              </a:rPr>
              <a:t>Student Name  - P . Sri Divya	               Roll No : 2620090130</a:t>
            </a:r>
          </a:p>
        </p:txBody>
      </p:sp>
      <p:sp>
        <p:nvSpPr>
          <p:cNvPr id="5" name="TextBox 5"/>
          <p:cNvSpPr txBox="1"/>
          <p:nvPr/>
        </p:nvSpPr>
        <p:spPr>
          <a:xfrm>
            <a:off x="1796625" y="2244135"/>
            <a:ext cx="5974080" cy="487313"/>
          </a:xfrm>
          <a:prstGeom prst="rect">
            <a:avLst/>
          </a:prstGeom>
        </p:spPr>
        <p:txBody>
          <a:bodyPr lIns="0" tIns="0" rIns="0" bIns="0" rtlCol="0" anchor="t">
            <a:spAutoFit/>
          </a:bodyPr>
          <a:lstStyle/>
          <a:p>
            <a:pPr>
              <a:lnSpc>
                <a:spcPts val="3838"/>
              </a:lnSpc>
            </a:pPr>
            <a:r>
              <a:rPr lang="en-US" sz="3200">
                <a:solidFill>
                  <a:srgbClr val="5D0DA5"/>
                </a:solidFill>
                <a:latin typeface="Bell MT" panose="02020503060305020303" pitchFamily="18" charset="0"/>
                <a:ea typeface="Arimo"/>
                <a:cs typeface="Arimo"/>
                <a:sym typeface="Arimo"/>
              </a:rPr>
              <a:t>Team No : 12</a:t>
            </a:r>
          </a:p>
        </p:txBody>
      </p:sp>
      <p:sp>
        <p:nvSpPr>
          <p:cNvPr id="6" name="TextBox 6"/>
          <p:cNvSpPr txBox="1"/>
          <p:nvPr/>
        </p:nvSpPr>
        <p:spPr>
          <a:xfrm>
            <a:off x="1686560" y="1421016"/>
            <a:ext cx="8107521" cy="551433"/>
          </a:xfrm>
          <a:prstGeom prst="rect">
            <a:avLst/>
          </a:prstGeom>
        </p:spPr>
        <p:txBody>
          <a:bodyPr lIns="0" tIns="0" rIns="0" bIns="0" rtlCol="0" anchor="t">
            <a:spAutoFit/>
          </a:bodyPr>
          <a:lstStyle/>
          <a:p>
            <a:pPr>
              <a:lnSpc>
                <a:spcPts val="4320"/>
              </a:lnSpc>
            </a:pPr>
            <a:r>
              <a:rPr lang="en-US" sz="3600" dirty="0">
                <a:solidFill>
                  <a:srgbClr val="5D0DA5"/>
                </a:solidFill>
                <a:latin typeface="Bell MT" panose="02020503060305020303" pitchFamily="18" charset="0"/>
                <a:ea typeface="Arimo"/>
                <a:cs typeface="Arimo"/>
                <a:sym typeface="Arimo"/>
              </a:rPr>
              <a:t>Monthly Expenses and Budget Analyzer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2192000" cy="6858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16706" b="-16706"/>
              </a:stretch>
            </a:blipFill>
          </p:spPr>
        </p:sp>
      </p:grpSp>
      <p:grpSp>
        <p:nvGrpSpPr>
          <p:cNvPr id="4" name="Group 4"/>
          <p:cNvGrpSpPr/>
          <p:nvPr/>
        </p:nvGrpSpPr>
        <p:grpSpPr>
          <a:xfrm>
            <a:off x="0" y="2669686"/>
            <a:ext cx="4037013" cy="4188333"/>
            <a:chOff x="0" y="0"/>
            <a:chExt cx="8074025" cy="8376666"/>
          </a:xfrm>
        </p:grpSpPr>
        <p:sp>
          <p:nvSpPr>
            <p:cNvPr id="5" name="Freeform 5"/>
            <p:cNvSpPr/>
            <p:nvPr/>
          </p:nvSpPr>
          <p:spPr>
            <a:xfrm>
              <a:off x="0" y="0"/>
              <a:ext cx="8074025" cy="8376666"/>
            </a:xfrm>
            <a:custGeom>
              <a:avLst/>
              <a:gdLst/>
              <a:ahLst/>
              <a:cxnLst/>
              <a:rect l="l" t="t" r="r" b="b"/>
              <a:pathLst>
                <a:path w="8074025" h="8376666">
                  <a:moveTo>
                    <a:pt x="0" y="0"/>
                  </a:moveTo>
                  <a:lnTo>
                    <a:pt x="8074025" y="0"/>
                  </a:lnTo>
                  <a:lnTo>
                    <a:pt x="8074025" y="8376666"/>
                  </a:lnTo>
                  <a:lnTo>
                    <a:pt x="0" y="8376666"/>
                  </a:lnTo>
                  <a:lnTo>
                    <a:pt x="0" y="0"/>
                  </a:lnTo>
                  <a:close/>
                </a:path>
              </a:pathLst>
            </a:custGeom>
            <a:blipFill>
              <a:blip r:embed="rId3"/>
              <a:stretch>
                <a:fillRect l="-1874" r="-1874"/>
              </a:stretch>
            </a:blipFill>
          </p:spPr>
        </p:sp>
      </p:grpSp>
      <p:grpSp>
        <p:nvGrpSpPr>
          <p:cNvPr id="6" name="Group 6"/>
          <p:cNvGrpSpPr/>
          <p:nvPr/>
        </p:nvGrpSpPr>
        <p:grpSpPr>
          <a:xfrm>
            <a:off x="0" y="2892349"/>
            <a:ext cx="1522413" cy="2365439"/>
            <a:chOff x="0" y="0"/>
            <a:chExt cx="3044825" cy="4730877"/>
          </a:xfrm>
        </p:grpSpPr>
        <p:sp>
          <p:nvSpPr>
            <p:cNvPr id="7" name="Freeform 7"/>
            <p:cNvSpPr/>
            <p:nvPr/>
          </p:nvSpPr>
          <p:spPr>
            <a:xfrm>
              <a:off x="0" y="0"/>
              <a:ext cx="3044825" cy="4730877"/>
            </a:xfrm>
            <a:custGeom>
              <a:avLst/>
              <a:gdLst/>
              <a:ahLst/>
              <a:cxnLst/>
              <a:rect l="l" t="t" r="r" b="b"/>
              <a:pathLst>
                <a:path w="3044825" h="4730877">
                  <a:moveTo>
                    <a:pt x="0" y="0"/>
                  </a:moveTo>
                  <a:lnTo>
                    <a:pt x="3044825" y="0"/>
                  </a:lnTo>
                  <a:lnTo>
                    <a:pt x="3044825" y="4730877"/>
                  </a:lnTo>
                  <a:lnTo>
                    <a:pt x="0" y="4730877"/>
                  </a:lnTo>
                  <a:lnTo>
                    <a:pt x="0" y="0"/>
                  </a:lnTo>
                  <a:close/>
                </a:path>
              </a:pathLst>
            </a:custGeom>
            <a:blipFill>
              <a:blip r:embed="rId4"/>
              <a:stretch>
                <a:fillRect l="-27687" r="-27687"/>
              </a:stretch>
            </a:blipFill>
          </p:spPr>
        </p:sp>
      </p:grpSp>
      <p:grpSp>
        <p:nvGrpSpPr>
          <p:cNvPr id="10" name="Group 10"/>
          <p:cNvGrpSpPr/>
          <p:nvPr/>
        </p:nvGrpSpPr>
        <p:grpSpPr>
          <a:xfrm>
            <a:off x="7999413" y="0"/>
            <a:ext cx="1603375" cy="1141413"/>
            <a:chOff x="0" y="0"/>
            <a:chExt cx="3206750" cy="2282825"/>
          </a:xfrm>
        </p:grpSpPr>
        <p:sp>
          <p:nvSpPr>
            <p:cNvPr id="11" name="Freeform 11"/>
            <p:cNvSpPr/>
            <p:nvPr/>
          </p:nvSpPr>
          <p:spPr>
            <a:xfrm>
              <a:off x="0" y="0"/>
              <a:ext cx="3206750" cy="2282825"/>
            </a:xfrm>
            <a:custGeom>
              <a:avLst/>
              <a:gdLst/>
              <a:ahLst/>
              <a:cxnLst/>
              <a:rect l="l" t="t" r="r" b="b"/>
              <a:pathLst>
                <a:path w="3206750" h="2282825">
                  <a:moveTo>
                    <a:pt x="0" y="0"/>
                  </a:moveTo>
                  <a:lnTo>
                    <a:pt x="3206750" y="0"/>
                  </a:lnTo>
                  <a:lnTo>
                    <a:pt x="3206750" y="2282825"/>
                  </a:lnTo>
                  <a:lnTo>
                    <a:pt x="0" y="2282825"/>
                  </a:lnTo>
                  <a:lnTo>
                    <a:pt x="0" y="0"/>
                  </a:lnTo>
                  <a:close/>
                </a:path>
              </a:pathLst>
            </a:custGeom>
            <a:blipFill>
              <a:blip r:embed="rId5"/>
              <a:stretch>
                <a:fillRect t="-20236" b="-20236"/>
              </a:stretch>
            </a:blipFill>
          </p:spPr>
        </p:sp>
      </p:grpSp>
      <p:grpSp>
        <p:nvGrpSpPr>
          <p:cNvPr id="12" name="Group 12"/>
          <p:cNvGrpSpPr/>
          <p:nvPr/>
        </p:nvGrpSpPr>
        <p:grpSpPr>
          <a:xfrm>
            <a:off x="8605876" y="6096000"/>
            <a:ext cx="993711" cy="762000"/>
            <a:chOff x="0" y="0"/>
            <a:chExt cx="1987423" cy="1524000"/>
          </a:xfrm>
        </p:grpSpPr>
        <p:sp>
          <p:nvSpPr>
            <p:cNvPr id="13" name="Freeform 13"/>
            <p:cNvSpPr/>
            <p:nvPr/>
          </p:nvSpPr>
          <p:spPr>
            <a:xfrm>
              <a:off x="0" y="0"/>
              <a:ext cx="1987423" cy="1524000"/>
            </a:xfrm>
            <a:custGeom>
              <a:avLst/>
              <a:gdLst/>
              <a:ahLst/>
              <a:cxnLst/>
              <a:rect l="l" t="t" r="r" b="b"/>
              <a:pathLst>
                <a:path w="1987423" h="1524000">
                  <a:moveTo>
                    <a:pt x="0" y="0"/>
                  </a:moveTo>
                  <a:lnTo>
                    <a:pt x="1987423" y="0"/>
                  </a:lnTo>
                  <a:lnTo>
                    <a:pt x="1987423" y="1524000"/>
                  </a:lnTo>
                  <a:lnTo>
                    <a:pt x="0" y="1524000"/>
                  </a:lnTo>
                  <a:lnTo>
                    <a:pt x="0" y="0"/>
                  </a:lnTo>
                  <a:close/>
                </a:path>
              </a:pathLst>
            </a:custGeom>
            <a:blipFill>
              <a:blip r:embed="rId6"/>
              <a:stretch>
                <a:fillRect t="-15204" b="-15204"/>
              </a:stretch>
            </a:blipFill>
          </p:spPr>
        </p:sp>
      </p:grpSp>
      <p:grpSp>
        <p:nvGrpSpPr>
          <p:cNvPr id="14" name="Group 14"/>
          <p:cNvGrpSpPr/>
          <p:nvPr/>
        </p:nvGrpSpPr>
        <p:grpSpPr>
          <a:xfrm>
            <a:off x="10437813" y="0"/>
            <a:ext cx="685800" cy="1143000"/>
            <a:chOff x="0" y="0"/>
            <a:chExt cx="1371600" cy="2286000"/>
          </a:xfrm>
        </p:grpSpPr>
        <p:sp>
          <p:nvSpPr>
            <p:cNvPr id="15" name="Freeform 15"/>
            <p:cNvSpPr/>
            <p:nvPr/>
          </p:nvSpPr>
          <p:spPr>
            <a:xfrm>
              <a:off x="0" y="0"/>
              <a:ext cx="1371600" cy="2286000"/>
            </a:xfrm>
            <a:custGeom>
              <a:avLst/>
              <a:gdLst/>
              <a:ahLst/>
              <a:cxnLst/>
              <a:rect l="l" t="t" r="r" b="b"/>
              <a:pathLst>
                <a:path w="1371600" h="2286000">
                  <a:moveTo>
                    <a:pt x="0" y="0"/>
                  </a:moveTo>
                  <a:lnTo>
                    <a:pt x="1371600" y="0"/>
                  </a:lnTo>
                  <a:lnTo>
                    <a:pt x="1371600" y="2286000"/>
                  </a:lnTo>
                  <a:lnTo>
                    <a:pt x="0" y="2286000"/>
                  </a:lnTo>
                  <a:close/>
                </a:path>
              </a:pathLst>
            </a:custGeom>
            <a:solidFill>
              <a:srgbClr val="B01513"/>
            </a:solidFill>
          </p:spPr>
        </p:sp>
      </p:grpSp>
      <p:sp>
        <p:nvSpPr>
          <p:cNvPr id="16" name="TextBox 16"/>
          <p:cNvSpPr txBox="1"/>
          <p:nvPr/>
        </p:nvSpPr>
        <p:spPr>
          <a:xfrm>
            <a:off x="899160" y="548005"/>
            <a:ext cx="10393680" cy="625108"/>
          </a:xfrm>
          <a:prstGeom prst="rect">
            <a:avLst/>
          </a:prstGeom>
        </p:spPr>
        <p:txBody>
          <a:bodyPr lIns="0" tIns="0" rIns="0" bIns="0" rtlCol="0" anchor="t">
            <a:spAutoFit/>
          </a:bodyPr>
          <a:lstStyle/>
          <a:p>
            <a:pPr>
              <a:lnSpc>
                <a:spcPts val="4752"/>
              </a:lnSpc>
            </a:pPr>
            <a:r>
              <a:rPr lang="en-US" sz="4400">
                <a:solidFill>
                  <a:srgbClr val="5D0DA5"/>
                </a:solidFill>
                <a:latin typeface="Bell MT" panose="02020503060305020303" pitchFamily="18" charset="0"/>
                <a:ea typeface="Century Gothic Paneuropean"/>
                <a:cs typeface="Century Gothic Paneuropean"/>
                <a:sym typeface="Century Gothic Paneuropean"/>
              </a:rPr>
              <a:t>Abstract</a:t>
            </a:r>
          </a:p>
        </p:txBody>
      </p:sp>
      <p:sp>
        <p:nvSpPr>
          <p:cNvPr id="17" name="TextBox 17"/>
          <p:cNvSpPr txBox="1"/>
          <p:nvPr/>
        </p:nvSpPr>
        <p:spPr>
          <a:xfrm>
            <a:off x="960120" y="1284516"/>
            <a:ext cx="7818120" cy="3996928"/>
          </a:xfrm>
          <a:prstGeom prst="rect">
            <a:avLst/>
          </a:prstGeom>
        </p:spPr>
        <p:txBody>
          <a:bodyPr lIns="0" tIns="0" rIns="0" bIns="0" rtlCol="0" anchor="t">
            <a:spAutoFit/>
          </a:bodyPr>
          <a:lstStyle/>
          <a:p>
            <a:pPr>
              <a:lnSpc>
                <a:spcPts val="2560"/>
              </a:lnSpc>
            </a:pPr>
            <a:r>
              <a:rPr lang="en-US" sz="2133">
                <a:solidFill>
                  <a:srgbClr val="7030A0"/>
                </a:solidFill>
                <a:latin typeface="Bell MT" panose="02020503060305020303" pitchFamily="18" charset="0"/>
                <a:ea typeface="Calibri (MS)"/>
                <a:cs typeface="Calibri (MS)"/>
                <a:sym typeface="Calibri (MS)"/>
              </a:rPr>
              <a:t>The </a:t>
            </a:r>
            <a:r>
              <a:rPr lang="en-US" sz="2133" b="1">
                <a:solidFill>
                  <a:srgbClr val="7030A0"/>
                </a:solidFill>
                <a:latin typeface="Bell MT" panose="02020503060305020303" pitchFamily="18" charset="0"/>
                <a:ea typeface="Calibri (MS) Bold"/>
                <a:cs typeface="Calibri (MS) Bold"/>
                <a:sym typeface="Calibri (MS) Bold"/>
              </a:rPr>
              <a:t>Monthly Expenses and Budget Analyzer</a:t>
            </a:r>
            <a:r>
              <a:rPr lang="en-US" sz="2133">
                <a:solidFill>
                  <a:srgbClr val="7030A0"/>
                </a:solidFill>
                <a:latin typeface="Bell MT" panose="02020503060305020303" pitchFamily="18" charset="0"/>
                <a:ea typeface="Calibri (MS)"/>
                <a:cs typeface="Calibri (MS)"/>
                <a:sym typeface="Calibri (MS)"/>
              </a:rPr>
              <a:t> is a Java-based application that helps users manage and understand their monthly spending. Users can enter their income, set a budget, and record expenses with details such as amount, date, and category.</a:t>
            </a:r>
          </a:p>
          <a:p>
            <a:pPr>
              <a:lnSpc>
                <a:spcPts val="2560"/>
              </a:lnSpc>
            </a:pPr>
            <a:r>
              <a:rPr lang="en-US" sz="2133">
                <a:solidFill>
                  <a:srgbClr val="7030A0"/>
                </a:solidFill>
                <a:latin typeface="Bell MT" panose="02020503060305020303" pitchFamily="18" charset="0"/>
                <a:ea typeface="Calibri (MS)"/>
                <a:cs typeface="Calibri (MS)"/>
                <a:sym typeface="Calibri (MS)"/>
              </a:rPr>
              <a:t>The system calculates the </a:t>
            </a:r>
            <a:r>
              <a:rPr lang="en-US" sz="2133" b="1">
                <a:solidFill>
                  <a:srgbClr val="7030A0"/>
                </a:solidFill>
                <a:latin typeface="Bell MT" panose="02020503060305020303" pitchFamily="18" charset="0"/>
                <a:ea typeface="Calibri (MS) Bold"/>
                <a:cs typeface="Calibri (MS) Bold"/>
                <a:sym typeface="Calibri (MS) Bold"/>
              </a:rPr>
              <a:t>total spending and remaining budget</a:t>
            </a:r>
            <a:r>
              <a:rPr lang="en-US" sz="2133">
                <a:solidFill>
                  <a:srgbClr val="7030A0"/>
                </a:solidFill>
                <a:latin typeface="Bell MT" panose="02020503060305020303" pitchFamily="18" charset="0"/>
                <a:ea typeface="Calibri (MS)"/>
                <a:cs typeface="Calibri (MS)"/>
                <a:sym typeface="Calibri (MS)"/>
              </a:rPr>
              <a:t> and alerts users when their expenses go beyond the planned budget. This helps users identify unnecessary spending and make better financial decisions.</a:t>
            </a:r>
          </a:p>
          <a:p>
            <a:pPr>
              <a:lnSpc>
                <a:spcPts val="2560"/>
              </a:lnSpc>
            </a:pPr>
            <a:r>
              <a:rPr lang="en-US" sz="2133">
                <a:solidFill>
                  <a:srgbClr val="7030A0"/>
                </a:solidFill>
                <a:latin typeface="Bell MT" panose="02020503060305020303" pitchFamily="18" charset="0"/>
                <a:ea typeface="Calibri (MS)"/>
                <a:cs typeface="Calibri (MS)"/>
                <a:sym typeface="Calibri (MS)"/>
              </a:rPr>
              <a:t>Developed using basic Java concepts such as </a:t>
            </a:r>
            <a:r>
              <a:rPr lang="en-US" sz="2133" b="1">
                <a:solidFill>
                  <a:srgbClr val="7030A0"/>
                </a:solidFill>
                <a:latin typeface="Bell MT" panose="02020503060305020303" pitchFamily="18" charset="0"/>
                <a:ea typeface="Calibri (MS) Bold"/>
                <a:cs typeface="Calibri (MS) Bold"/>
                <a:sym typeface="Calibri (MS) Bold"/>
              </a:rPr>
              <a:t>variables, data types, operators, loops, arrays, methods, conditional statements, and OOP</a:t>
            </a:r>
            <a:r>
              <a:rPr lang="en-US" sz="2133">
                <a:solidFill>
                  <a:srgbClr val="7030A0"/>
                </a:solidFill>
                <a:latin typeface="Bell MT" panose="02020503060305020303" pitchFamily="18" charset="0"/>
                <a:ea typeface="Calibri (MS)"/>
                <a:cs typeface="Calibri (MS)"/>
                <a:sym typeface="Calibri (MS)"/>
              </a:rPr>
              <a:t>, the application provides a simple way to track expenses, control spending, and develop better financial planning habits.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831796" y="2105203"/>
            <a:ext cx="9360217" cy="4752785"/>
            <a:chOff x="0" y="0"/>
            <a:chExt cx="18720435" cy="9505569"/>
          </a:xfrm>
        </p:grpSpPr>
        <p:sp>
          <p:nvSpPr>
            <p:cNvPr id="3" name="Freeform 3"/>
            <p:cNvSpPr/>
            <p:nvPr/>
          </p:nvSpPr>
          <p:spPr>
            <a:xfrm>
              <a:off x="0" y="0"/>
              <a:ext cx="18720436" cy="9505569"/>
            </a:xfrm>
            <a:custGeom>
              <a:avLst/>
              <a:gdLst/>
              <a:ahLst/>
              <a:cxnLst/>
              <a:rect l="l" t="t" r="r" b="b"/>
              <a:pathLst>
                <a:path w="18720436" h="9505569">
                  <a:moveTo>
                    <a:pt x="0" y="0"/>
                  </a:moveTo>
                  <a:lnTo>
                    <a:pt x="18720436" y="0"/>
                  </a:lnTo>
                  <a:lnTo>
                    <a:pt x="18720436" y="9505569"/>
                  </a:lnTo>
                  <a:lnTo>
                    <a:pt x="0" y="9505569"/>
                  </a:lnTo>
                  <a:lnTo>
                    <a:pt x="0" y="0"/>
                  </a:lnTo>
                  <a:close/>
                </a:path>
              </a:pathLst>
            </a:custGeom>
            <a:blipFill>
              <a:blip r:embed="rId2"/>
              <a:stretch>
                <a:fillRect t="-26" b="-26"/>
              </a:stretch>
            </a:blipFill>
          </p:spPr>
        </p:sp>
      </p:grpSp>
      <p:grpSp>
        <p:nvGrpSpPr>
          <p:cNvPr id="4" name="Group 4"/>
          <p:cNvGrpSpPr/>
          <p:nvPr/>
        </p:nvGrpSpPr>
        <p:grpSpPr>
          <a:xfrm>
            <a:off x="0" y="0"/>
            <a:ext cx="12189841" cy="6858000"/>
            <a:chOff x="0" y="0"/>
            <a:chExt cx="24379682" cy="13716000"/>
          </a:xfrm>
        </p:grpSpPr>
        <p:sp>
          <p:nvSpPr>
            <p:cNvPr id="5" name="Freeform 5"/>
            <p:cNvSpPr/>
            <p:nvPr/>
          </p:nvSpPr>
          <p:spPr>
            <a:xfrm>
              <a:off x="0" y="0"/>
              <a:ext cx="24379682" cy="13716000"/>
            </a:xfrm>
            <a:custGeom>
              <a:avLst/>
              <a:gdLst/>
              <a:ahLst/>
              <a:cxnLst/>
              <a:rect l="l" t="t" r="r" b="b"/>
              <a:pathLst>
                <a:path w="24379682" h="13716000">
                  <a:moveTo>
                    <a:pt x="0" y="0"/>
                  </a:moveTo>
                  <a:lnTo>
                    <a:pt x="24379682" y="0"/>
                  </a:lnTo>
                  <a:lnTo>
                    <a:pt x="24379682" y="13716000"/>
                  </a:lnTo>
                  <a:lnTo>
                    <a:pt x="0" y="13716000"/>
                  </a:lnTo>
                  <a:lnTo>
                    <a:pt x="0" y="0"/>
                  </a:lnTo>
                  <a:close/>
                </a:path>
              </a:pathLst>
            </a:custGeom>
            <a:blipFill>
              <a:blip r:embed="rId3"/>
              <a:stretch>
                <a:fillRect t="-34" b="-34"/>
              </a:stretch>
            </a:blipFill>
          </p:spPr>
        </p:sp>
      </p:grpSp>
      <p:grpSp>
        <p:nvGrpSpPr>
          <p:cNvPr id="6" name="Group 6"/>
          <p:cNvGrpSpPr/>
          <p:nvPr/>
        </p:nvGrpSpPr>
        <p:grpSpPr>
          <a:xfrm>
            <a:off x="0" y="0"/>
            <a:ext cx="964184" cy="6858000"/>
            <a:chOff x="0" y="0"/>
            <a:chExt cx="1928368" cy="13716000"/>
          </a:xfrm>
        </p:grpSpPr>
        <p:sp>
          <p:nvSpPr>
            <p:cNvPr id="7" name="Freeform 7"/>
            <p:cNvSpPr/>
            <p:nvPr/>
          </p:nvSpPr>
          <p:spPr>
            <a:xfrm>
              <a:off x="0" y="0"/>
              <a:ext cx="1928368" cy="13716000"/>
            </a:xfrm>
            <a:custGeom>
              <a:avLst/>
              <a:gdLst/>
              <a:ahLst/>
              <a:cxnLst/>
              <a:rect l="l" t="t" r="r" b="b"/>
              <a:pathLst>
                <a:path w="1928368" h="13716000">
                  <a:moveTo>
                    <a:pt x="0" y="0"/>
                  </a:moveTo>
                  <a:lnTo>
                    <a:pt x="1928368" y="0"/>
                  </a:lnTo>
                  <a:lnTo>
                    <a:pt x="1928368" y="13716000"/>
                  </a:lnTo>
                  <a:lnTo>
                    <a:pt x="0" y="13716000"/>
                  </a:lnTo>
                  <a:close/>
                </a:path>
              </a:pathLst>
            </a:custGeom>
            <a:solidFill>
              <a:srgbClr val="1F2D29"/>
            </a:solidFill>
          </p:spPr>
        </p:sp>
      </p:grpSp>
      <p:grpSp>
        <p:nvGrpSpPr>
          <p:cNvPr id="8" name="Group 8"/>
          <p:cNvGrpSpPr/>
          <p:nvPr/>
        </p:nvGrpSpPr>
        <p:grpSpPr>
          <a:xfrm>
            <a:off x="962044" y="0"/>
            <a:ext cx="45720" cy="6858000"/>
            <a:chOff x="0" y="0"/>
            <a:chExt cx="91440" cy="13716000"/>
          </a:xfrm>
        </p:grpSpPr>
        <p:sp>
          <p:nvSpPr>
            <p:cNvPr id="9" name="Freeform 9"/>
            <p:cNvSpPr/>
            <p:nvPr/>
          </p:nvSpPr>
          <p:spPr>
            <a:xfrm>
              <a:off x="0" y="0"/>
              <a:ext cx="91440" cy="13716000"/>
            </a:xfrm>
            <a:custGeom>
              <a:avLst/>
              <a:gdLst/>
              <a:ahLst/>
              <a:cxnLst/>
              <a:rect l="l" t="t" r="r" b="b"/>
              <a:pathLst>
                <a:path w="91440" h="13716000">
                  <a:moveTo>
                    <a:pt x="0" y="0"/>
                  </a:moveTo>
                  <a:lnTo>
                    <a:pt x="91440" y="0"/>
                  </a:lnTo>
                  <a:lnTo>
                    <a:pt x="91440" y="13716000"/>
                  </a:lnTo>
                  <a:lnTo>
                    <a:pt x="0" y="13716000"/>
                  </a:lnTo>
                  <a:close/>
                </a:path>
              </a:pathLst>
            </a:custGeom>
            <a:solidFill>
              <a:srgbClr val="8EC0C1"/>
            </a:solidFill>
          </p:spPr>
        </p:sp>
      </p:grpSp>
      <p:grpSp>
        <p:nvGrpSpPr>
          <p:cNvPr id="10" name="Group 10"/>
          <p:cNvGrpSpPr/>
          <p:nvPr/>
        </p:nvGrpSpPr>
        <p:grpSpPr>
          <a:xfrm>
            <a:off x="1023116" y="-1105"/>
            <a:ext cx="10372344" cy="6858000"/>
            <a:chOff x="0" y="0"/>
            <a:chExt cx="20744688" cy="13716000"/>
          </a:xfrm>
        </p:grpSpPr>
        <p:sp>
          <p:nvSpPr>
            <p:cNvPr id="11" name="Freeform 11"/>
            <p:cNvSpPr/>
            <p:nvPr/>
          </p:nvSpPr>
          <p:spPr>
            <a:xfrm>
              <a:off x="0" y="0"/>
              <a:ext cx="20744687" cy="13716000"/>
            </a:xfrm>
            <a:custGeom>
              <a:avLst/>
              <a:gdLst/>
              <a:ahLst/>
              <a:cxnLst/>
              <a:rect l="l" t="t" r="r" b="b"/>
              <a:pathLst>
                <a:path w="20744687" h="13716000">
                  <a:moveTo>
                    <a:pt x="0" y="0"/>
                  </a:moveTo>
                  <a:lnTo>
                    <a:pt x="20744687" y="0"/>
                  </a:lnTo>
                  <a:lnTo>
                    <a:pt x="20744687" y="13716000"/>
                  </a:lnTo>
                  <a:lnTo>
                    <a:pt x="0" y="13716000"/>
                  </a:lnTo>
                  <a:close/>
                </a:path>
              </a:pathLst>
            </a:custGeom>
            <a:solidFill>
              <a:srgbClr val="1F2D29">
                <a:alpha val="50196"/>
              </a:srgbClr>
            </a:solidFill>
          </p:spPr>
        </p:sp>
      </p:grpSp>
      <p:grpSp>
        <p:nvGrpSpPr>
          <p:cNvPr id="12" name="Group 12"/>
          <p:cNvGrpSpPr/>
          <p:nvPr/>
        </p:nvGrpSpPr>
        <p:grpSpPr>
          <a:xfrm>
            <a:off x="11377327" y="0"/>
            <a:ext cx="27432" cy="6858000"/>
            <a:chOff x="0" y="0"/>
            <a:chExt cx="54864" cy="13716000"/>
          </a:xfrm>
        </p:grpSpPr>
        <p:sp>
          <p:nvSpPr>
            <p:cNvPr id="13" name="Freeform 13"/>
            <p:cNvSpPr/>
            <p:nvPr/>
          </p:nvSpPr>
          <p:spPr>
            <a:xfrm>
              <a:off x="0" y="0"/>
              <a:ext cx="54864" cy="13716000"/>
            </a:xfrm>
            <a:custGeom>
              <a:avLst/>
              <a:gdLst/>
              <a:ahLst/>
              <a:cxnLst/>
              <a:rect l="l" t="t" r="r" b="b"/>
              <a:pathLst>
                <a:path w="54864" h="13716000">
                  <a:moveTo>
                    <a:pt x="0" y="0"/>
                  </a:moveTo>
                  <a:lnTo>
                    <a:pt x="54864" y="0"/>
                  </a:lnTo>
                  <a:lnTo>
                    <a:pt x="54864" y="13716000"/>
                  </a:lnTo>
                  <a:lnTo>
                    <a:pt x="0" y="13716000"/>
                  </a:lnTo>
                  <a:close/>
                </a:path>
              </a:pathLst>
            </a:custGeom>
            <a:solidFill>
              <a:srgbClr val="8EC0C1"/>
            </a:solidFill>
          </p:spPr>
        </p:sp>
      </p:grpSp>
      <p:sp>
        <p:nvSpPr>
          <p:cNvPr id="14" name="TextBox 14"/>
          <p:cNvSpPr txBox="1"/>
          <p:nvPr/>
        </p:nvSpPr>
        <p:spPr>
          <a:xfrm>
            <a:off x="1127760" y="404069"/>
            <a:ext cx="10393680" cy="455446"/>
          </a:xfrm>
          <a:prstGeom prst="rect">
            <a:avLst/>
          </a:prstGeom>
        </p:spPr>
        <p:txBody>
          <a:bodyPr lIns="0" tIns="0" rIns="0" bIns="0" rtlCol="0" anchor="t">
            <a:spAutoFit/>
          </a:bodyPr>
          <a:lstStyle/>
          <a:p>
            <a:pPr>
              <a:lnSpc>
                <a:spcPts val="3456"/>
              </a:lnSpc>
            </a:pPr>
            <a:r>
              <a:rPr lang="en-US" sz="3200">
                <a:solidFill>
                  <a:srgbClr val="FFFFFF"/>
                </a:solidFill>
                <a:latin typeface="Bell MT" panose="02020503060305020303" pitchFamily="18" charset="0"/>
                <a:ea typeface="Arial"/>
                <a:cs typeface="Arial"/>
                <a:sym typeface="Arial"/>
              </a:rPr>
              <a:t>Understanding Problem Statement</a:t>
            </a:r>
          </a:p>
        </p:txBody>
      </p:sp>
      <p:sp>
        <p:nvSpPr>
          <p:cNvPr id="17" name="TextBox 16">
            <a:extLst>
              <a:ext uri="{FF2B5EF4-FFF2-40B4-BE49-F238E27FC236}">
                <a16:creationId xmlns:a16="http://schemas.microsoft.com/office/drawing/2014/main" id="{B75986A2-2010-2E9F-2277-F2007AA7AC32}"/>
              </a:ext>
            </a:extLst>
          </p:cNvPr>
          <p:cNvSpPr txBox="1"/>
          <p:nvPr/>
        </p:nvSpPr>
        <p:spPr>
          <a:xfrm>
            <a:off x="1361791" y="1023671"/>
            <a:ext cx="9971956" cy="6413422"/>
          </a:xfrm>
          <a:prstGeom prst="rect">
            <a:avLst/>
          </a:prstGeom>
          <a:noFill/>
        </p:spPr>
        <p:txBody>
          <a:bodyPr wrap="square">
            <a:spAutoFit/>
          </a:bodyPr>
          <a:lstStyle/>
          <a:p>
            <a:pPr>
              <a:buNone/>
            </a:pPr>
            <a:r>
              <a:rPr lang="en-US" sz="1867" b="1" dirty="0">
                <a:solidFill>
                  <a:schemeClr val="bg1"/>
                </a:solidFill>
                <a:latin typeface="Bell MT" panose="02020503060305020303" pitchFamily="18" charset="0"/>
              </a:rPr>
              <a:t>Problem Statement</a:t>
            </a:r>
          </a:p>
          <a:p>
            <a:pPr>
              <a:buNone/>
            </a:pPr>
            <a:r>
              <a:rPr lang="en-US" sz="1867" dirty="0">
                <a:solidFill>
                  <a:schemeClr val="bg1"/>
                </a:solidFill>
                <a:latin typeface="Bell MT" panose="02020503060305020303" pitchFamily="18" charset="0"/>
              </a:rPr>
              <a:t>Managing personal and family finances is a common challenge because there are many expenses to handle every month. A family usually has a fixed </a:t>
            </a:r>
            <a:r>
              <a:rPr lang="en-US" sz="1867" b="1" dirty="0">
                <a:solidFill>
                  <a:schemeClr val="bg1"/>
                </a:solidFill>
                <a:latin typeface="Bell MT" panose="02020503060305020303" pitchFamily="18" charset="0"/>
              </a:rPr>
              <a:t>monthly income</a:t>
            </a:r>
            <a:r>
              <a:rPr lang="en-US" sz="1867" dirty="0">
                <a:solidFill>
                  <a:schemeClr val="bg1"/>
                </a:solidFill>
                <a:latin typeface="Bell MT" panose="02020503060305020303" pitchFamily="18" charset="0"/>
              </a:rPr>
              <a:t>, but its </a:t>
            </a:r>
            <a:r>
              <a:rPr lang="en-US" sz="1867" b="1" dirty="0">
                <a:solidFill>
                  <a:schemeClr val="bg1"/>
                </a:solidFill>
                <a:latin typeface="Bell MT" panose="02020503060305020303" pitchFamily="18" charset="0"/>
              </a:rPr>
              <a:t>expenditure</a:t>
            </a:r>
            <a:r>
              <a:rPr lang="en-US" sz="1867" dirty="0">
                <a:solidFill>
                  <a:schemeClr val="bg1"/>
                </a:solidFill>
                <a:latin typeface="Bell MT" panose="02020503060305020303" pitchFamily="18" charset="0"/>
              </a:rPr>
              <a:t> can vary depending on food, rent, education, transportation, medical needs, household requirements, and other unexpected expenses. When these expenses are not properly recorded and monitored, it becomes difficult to understand where the money is being spent.</a:t>
            </a:r>
          </a:p>
          <a:p>
            <a:pPr>
              <a:buNone/>
            </a:pPr>
            <a:endParaRPr lang="en-US" sz="1867" dirty="0">
              <a:solidFill>
                <a:schemeClr val="bg1"/>
              </a:solidFill>
              <a:latin typeface="Bell MT" panose="02020503060305020303" pitchFamily="18" charset="0"/>
            </a:endParaRPr>
          </a:p>
          <a:p>
            <a:pPr>
              <a:buNone/>
            </a:pPr>
            <a:r>
              <a:rPr lang="en-US" sz="1867" dirty="0">
                <a:solidFill>
                  <a:schemeClr val="bg1"/>
                </a:solidFill>
                <a:latin typeface="Bell MT" panose="02020503060305020303" pitchFamily="18" charset="0"/>
              </a:rPr>
              <a:t>Another major problem is maintaining a proper balance between </a:t>
            </a:r>
            <a:r>
              <a:rPr lang="en-US" sz="1867" b="1" dirty="0">
                <a:solidFill>
                  <a:schemeClr val="bg1"/>
                </a:solidFill>
                <a:latin typeface="Bell MT" panose="02020503060305020303" pitchFamily="18" charset="0"/>
              </a:rPr>
              <a:t>expenditure and savings</a:t>
            </a:r>
            <a:r>
              <a:rPr lang="en-US" sz="1867" dirty="0">
                <a:solidFill>
                  <a:schemeClr val="bg1"/>
                </a:solidFill>
                <a:latin typeface="Bell MT" panose="02020503060305020303" pitchFamily="18" charset="0"/>
              </a:rPr>
              <a:t>. If a large portion of the monthly income is spent on unnecessary or unplanned expenses, the amount available for </a:t>
            </a:r>
            <a:r>
              <a:rPr lang="en-US" sz="1867" b="1" dirty="0">
                <a:solidFill>
                  <a:schemeClr val="bg1"/>
                </a:solidFill>
                <a:latin typeface="Bell MT" panose="02020503060305020303" pitchFamily="18" charset="0"/>
              </a:rPr>
              <a:t>monthly savings</a:t>
            </a:r>
            <a:r>
              <a:rPr lang="en-US" sz="1867" dirty="0">
                <a:solidFill>
                  <a:schemeClr val="bg1"/>
                </a:solidFill>
                <a:latin typeface="Bell MT" panose="02020503060305020303" pitchFamily="18" charset="0"/>
              </a:rPr>
              <a:t> becomes smaller. In some situations, expenditure may even become greater than the monthly income, creating financial pressure and making it difficult to manage future needs.</a:t>
            </a:r>
          </a:p>
          <a:p>
            <a:pPr>
              <a:buNone/>
            </a:pPr>
            <a:endParaRPr lang="en-US" sz="1867" dirty="0">
              <a:solidFill>
                <a:schemeClr val="bg1"/>
              </a:solidFill>
              <a:latin typeface="Bell MT" panose="02020503060305020303" pitchFamily="18" charset="0"/>
            </a:endParaRPr>
          </a:p>
          <a:p>
            <a:pPr>
              <a:buNone/>
            </a:pPr>
            <a:r>
              <a:rPr lang="en-US" sz="1867" dirty="0">
                <a:solidFill>
                  <a:schemeClr val="bg1"/>
                </a:solidFill>
                <a:latin typeface="Bell MT" panose="02020503060305020303" pitchFamily="18" charset="0"/>
              </a:rPr>
              <a:t>Families may also find it difficult to set and follow a suitable </a:t>
            </a:r>
            <a:r>
              <a:rPr lang="en-US" sz="1867" b="1" dirty="0">
                <a:solidFill>
                  <a:schemeClr val="bg1"/>
                </a:solidFill>
                <a:latin typeface="Bell MT" panose="02020503060305020303" pitchFamily="18" charset="0"/>
              </a:rPr>
              <a:t>monthly budget</a:t>
            </a:r>
            <a:r>
              <a:rPr lang="en-US" sz="1867" dirty="0">
                <a:solidFill>
                  <a:schemeClr val="bg1"/>
                </a:solidFill>
                <a:latin typeface="Bell MT" panose="02020503060305020303" pitchFamily="18" charset="0"/>
              </a:rPr>
              <a:t>. Without knowing the total expenditure and the amount remaining after expenses, people may unknowingly exceed their planned budget. They may also struggle to identify which expense categories consume the most money and where spending can be reduced.</a:t>
            </a:r>
          </a:p>
          <a:p>
            <a:pPr>
              <a:buNone/>
            </a:pPr>
            <a:endParaRPr lang="en-US" sz="1867" dirty="0">
              <a:solidFill>
                <a:schemeClr val="bg1"/>
              </a:solidFill>
              <a:latin typeface="Bell MT" panose="02020503060305020303" pitchFamily="18" charset="0"/>
            </a:endParaRPr>
          </a:p>
          <a:p>
            <a:pPr>
              <a:buNone/>
            </a:pPr>
            <a:r>
              <a:rPr lang="en-US" sz="1867" dirty="0">
                <a:solidFill>
                  <a:schemeClr val="bg1"/>
                </a:solidFill>
                <a:latin typeface="Bell MT" panose="02020503060305020303" pitchFamily="18" charset="0"/>
              </a:rPr>
              <a:t>The number of </a:t>
            </a:r>
            <a:r>
              <a:rPr lang="en-US" sz="1867" b="1" dirty="0">
                <a:solidFill>
                  <a:schemeClr val="bg1"/>
                </a:solidFill>
                <a:latin typeface="Bell MT" panose="02020503060305020303" pitchFamily="18" charset="0"/>
              </a:rPr>
              <a:t>family members</a:t>
            </a:r>
            <a:r>
              <a:rPr lang="en-US" sz="1867" dirty="0">
                <a:solidFill>
                  <a:schemeClr val="bg1"/>
                </a:solidFill>
                <a:latin typeface="Bell MT" panose="02020503060305020303" pitchFamily="18" charset="0"/>
              </a:rPr>
              <a:t> can also affect financial planning, as larger families may have higher requirements and expenditure. Therefore, simply knowing the monthly income is not enough; users need to understand their total expenditure, expenditure per person, remaining amount, and savings.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831796" y="2105203"/>
            <a:ext cx="9360217" cy="4752785"/>
            <a:chOff x="0" y="0"/>
            <a:chExt cx="18720435" cy="9505569"/>
          </a:xfrm>
        </p:grpSpPr>
        <p:sp>
          <p:nvSpPr>
            <p:cNvPr id="3" name="Freeform 3"/>
            <p:cNvSpPr/>
            <p:nvPr/>
          </p:nvSpPr>
          <p:spPr>
            <a:xfrm>
              <a:off x="0" y="0"/>
              <a:ext cx="18720436" cy="9505569"/>
            </a:xfrm>
            <a:custGeom>
              <a:avLst/>
              <a:gdLst/>
              <a:ahLst/>
              <a:cxnLst/>
              <a:rect l="l" t="t" r="r" b="b"/>
              <a:pathLst>
                <a:path w="18720436" h="9505569">
                  <a:moveTo>
                    <a:pt x="0" y="0"/>
                  </a:moveTo>
                  <a:lnTo>
                    <a:pt x="18720436" y="0"/>
                  </a:lnTo>
                  <a:lnTo>
                    <a:pt x="18720436" y="9505569"/>
                  </a:lnTo>
                  <a:lnTo>
                    <a:pt x="0" y="9505569"/>
                  </a:lnTo>
                  <a:lnTo>
                    <a:pt x="0" y="0"/>
                  </a:lnTo>
                  <a:close/>
                </a:path>
              </a:pathLst>
            </a:custGeom>
            <a:blipFill>
              <a:blip r:embed="rId2"/>
              <a:stretch>
                <a:fillRect t="-26" b="-26"/>
              </a:stretch>
            </a:blipFill>
          </p:spPr>
        </p:sp>
      </p:grpSp>
      <p:grpSp>
        <p:nvGrpSpPr>
          <p:cNvPr id="4" name="Group 4"/>
          <p:cNvGrpSpPr/>
          <p:nvPr/>
        </p:nvGrpSpPr>
        <p:grpSpPr>
          <a:xfrm>
            <a:off x="0" y="0"/>
            <a:ext cx="12189841" cy="6858000"/>
            <a:chOff x="0" y="0"/>
            <a:chExt cx="24379682" cy="13716000"/>
          </a:xfrm>
        </p:grpSpPr>
        <p:sp>
          <p:nvSpPr>
            <p:cNvPr id="5" name="Freeform 5"/>
            <p:cNvSpPr/>
            <p:nvPr/>
          </p:nvSpPr>
          <p:spPr>
            <a:xfrm>
              <a:off x="0" y="0"/>
              <a:ext cx="24379682" cy="13716000"/>
            </a:xfrm>
            <a:custGeom>
              <a:avLst/>
              <a:gdLst/>
              <a:ahLst/>
              <a:cxnLst/>
              <a:rect l="l" t="t" r="r" b="b"/>
              <a:pathLst>
                <a:path w="24379682" h="13716000">
                  <a:moveTo>
                    <a:pt x="0" y="0"/>
                  </a:moveTo>
                  <a:lnTo>
                    <a:pt x="24379682" y="0"/>
                  </a:lnTo>
                  <a:lnTo>
                    <a:pt x="24379682" y="13716000"/>
                  </a:lnTo>
                  <a:lnTo>
                    <a:pt x="0" y="13716000"/>
                  </a:lnTo>
                  <a:lnTo>
                    <a:pt x="0" y="0"/>
                  </a:lnTo>
                  <a:close/>
                </a:path>
              </a:pathLst>
            </a:custGeom>
            <a:blipFill>
              <a:blip r:embed="rId3"/>
              <a:stretch>
                <a:fillRect t="-34" b="-34"/>
              </a:stretch>
            </a:blipFill>
          </p:spPr>
        </p:sp>
      </p:grpSp>
      <p:grpSp>
        <p:nvGrpSpPr>
          <p:cNvPr id="6" name="Group 6"/>
          <p:cNvGrpSpPr/>
          <p:nvPr/>
        </p:nvGrpSpPr>
        <p:grpSpPr>
          <a:xfrm>
            <a:off x="0" y="0"/>
            <a:ext cx="964184" cy="6858000"/>
            <a:chOff x="0" y="0"/>
            <a:chExt cx="1928368" cy="13716000"/>
          </a:xfrm>
        </p:grpSpPr>
        <p:sp>
          <p:nvSpPr>
            <p:cNvPr id="7" name="Freeform 7"/>
            <p:cNvSpPr/>
            <p:nvPr/>
          </p:nvSpPr>
          <p:spPr>
            <a:xfrm>
              <a:off x="0" y="0"/>
              <a:ext cx="1928368" cy="13716000"/>
            </a:xfrm>
            <a:custGeom>
              <a:avLst/>
              <a:gdLst/>
              <a:ahLst/>
              <a:cxnLst/>
              <a:rect l="l" t="t" r="r" b="b"/>
              <a:pathLst>
                <a:path w="1928368" h="13716000">
                  <a:moveTo>
                    <a:pt x="0" y="0"/>
                  </a:moveTo>
                  <a:lnTo>
                    <a:pt x="1928368" y="0"/>
                  </a:lnTo>
                  <a:lnTo>
                    <a:pt x="1928368" y="13716000"/>
                  </a:lnTo>
                  <a:lnTo>
                    <a:pt x="0" y="13716000"/>
                  </a:lnTo>
                  <a:close/>
                </a:path>
              </a:pathLst>
            </a:custGeom>
            <a:solidFill>
              <a:srgbClr val="1F2D29"/>
            </a:solidFill>
          </p:spPr>
        </p:sp>
      </p:grpSp>
      <p:grpSp>
        <p:nvGrpSpPr>
          <p:cNvPr id="8" name="Group 8"/>
          <p:cNvGrpSpPr/>
          <p:nvPr/>
        </p:nvGrpSpPr>
        <p:grpSpPr>
          <a:xfrm>
            <a:off x="962044" y="0"/>
            <a:ext cx="45720" cy="6858000"/>
            <a:chOff x="0" y="0"/>
            <a:chExt cx="91440" cy="13716000"/>
          </a:xfrm>
        </p:grpSpPr>
        <p:sp>
          <p:nvSpPr>
            <p:cNvPr id="9" name="Freeform 9"/>
            <p:cNvSpPr/>
            <p:nvPr/>
          </p:nvSpPr>
          <p:spPr>
            <a:xfrm>
              <a:off x="0" y="0"/>
              <a:ext cx="91440" cy="13716000"/>
            </a:xfrm>
            <a:custGeom>
              <a:avLst/>
              <a:gdLst/>
              <a:ahLst/>
              <a:cxnLst/>
              <a:rect l="l" t="t" r="r" b="b"/>
              <a:pathLst>
                <a:path w="91440" h="13716000">
                  <a:moveTo>
                    <a:pt x="0" y="0"/>
                  </a:moveTo>
                  <a:lnTo>
                    <a:pt x="91440" y="0"/>
                  </a:lnTo>
                  <a:lnTo>
                    <a:pt x="91440" y="13716000"/>
                  </a:lnTo>
                  <a:lnTo>
                    <a:pt x="0" y="13716000"/>
                  </a:lnTo>
                  <a:close/>
                </a:path>
              </a:pathLst>
            </a:custGeom>
            <a:solidFill>
              <a:srgbClr val="8EC0C1"/>
            </a:solidFill>
          </p:spPr>
        </p:sp>
      </p:grpSp>
      <p:grpSp>
        <p:nvGrpSpPr>
          <p:cNvPr id="10" name="Group 10"/>
          <p:cNvGrpSpPr/>
          <p:nvPr/>
        </p:nvGrpSpPr>
        <p:grpSpPr>
          <a:xfrm>
            <a:off x="1004481" y="0"/>
            <a:ext cx="10372344" cy="6858000"/>
            <a:chOff x="0" y="0"/>
            <a:chExt cx="20744688" cy="13716000"/>
          </a:xfrm>
        </p:grpSpPr>
        <p:sp>
          <p:nvSpPr>
            <p:cNvPr id="11" name="Freeform 11"/>
            <p:cNvSpPr/>
            <p:nvPr/>
          </p:nvSpPr>
          <p:spPr>
            <a:xfrm>
              <a:off x="0" y="0"/>
              <a:ext cx="20744687" cy="13716000"/>
            </a:xfrm>
            <a:custGeom>
              <a:avLst/>
              <a:gdLst/>
              <a:ahLst/>
              <a:cxnLst/>
              <a:rect l="l" t="t" r="r" b="b"/>
              <a:pathLst>
                <a:path w="20744687" h="13716000">
                  <a:moveTo>
                    <a:pt x="0" y="0"/>
                  </a:moveTo>
                  <a:lnTo>
                    <a:pt x="20744687" y="0"/>
                  </a:lnTo>
                  <a:lnTo>
                    <a:pt x="20744687" y="13716000"/>
                  </a:lnTo>
                  <a:lnTo>
                    <a:pt x="0" y="13716000"/>
                  </a:lnTo>
                  <a:close/>
                </a:path>
              </a:pathLst>
            </a:custGeom>
            <a:solidFill>
              <a:srgbClr val="1F2D29">
                <a:alpha val="50196"/>
              </a:srgbClr>
            </a:solidFill>
          </p:spPr>
        </p:sp>
      </p:grpSp>
      <p:grpSp>
        <p:nvGrpSpPr>
          <p:cNvPr id="12" name="Group 12"/>
          <p:cNvGrpSpPr/>
          <p:nvPr/>
        </p:nvGrpSpPr>
        <p:grpSpPr>
          <a:xfrm>
            <a:off x="11377327" y="0"/>
            <a:ext cx="27432" cy="6858000"/>
            <a:chOff x="0" y="0"/>
            <a:chExt cx="54864" cy="13716000"/>
          </a:xfrm>
        </p:grpSpPr>
        <p:sp>
          <p:nvSpPr>
            <p:cNvPr id="13" name="Freeform 13"/>
            <p:cNvSpPr/>
            <p:nvPr/>
          </p:nvSpPr>
          <p:spPr>
            <a:xfrm>
              <a:off x="0" y="0"/>
              <a:ext cx="54864" cy="13716000"/>
            </a:xfrm>
            <a:custGeom>
              <a:avLst/>
              <a:gdLst/>
              <a:ahLst/>
              <a:cxnLst/>
              <a:rect l="l" t="t" r="r" b="b"/>
              <a:pathLst>
                <a:path w="54864" h="13716000">
                  <a:moveTo>
                    <a:pt x="0" y="0"/>
                  </a:moveTo>
                  <a:lnTo>
                    <a:pt x="54864" y="0"/>
                  </a:lnTo>
                  <a:lnTo>
                    <a:pt x="54864" y="13716000"/>
                  </a:lnTo>
                  <a:lnTo>
                    <a:pt x="0" y="13716000"/>
                  </a:lnTo>
                  <a:close/>
                </a:path>
              </a:pathLst>
            </a:custGeom>
            <a:solidFill>
              <a:srgbClr val="8EC0C1"/>
            </a:solidFill>
          </p:spPr>
        </p:sp>
      </p:grpSp>
      <p:sp>
        <p:nvSpPr>
          <p:cNvPr id="16" name="TextBox 15">
            <a:extLst>
              <a:ext uri="{FF2B5EF4-FFF2-40B4-BE49-F238E27FC236}">
                <a16:creationId xmlns:a16="http://schemas.microsoft.com/office/drawing/2014/main" id="{ED3841F6-8BC0-14FB-8D2E-1A5E9B6E8795}"/>
              </a:ext>
            </a:extLst>
          </p:cNvPr>
          <p:cNvSpPr txBox="1"/>
          <p:nvPr/>
        </p:nvSpPr>
        <p:spPr>
          <a:xfrm>
            <a:off x="1219200" y="127000"/>
            <a:ext cx="9804400" cy="2678234"/>
          </a:xfrm>
          <a:prstGeom prst="rect">
            <a:avLst/>
          </a:prstGeom>
          <a:noFill/>
        </p:spPr>
        <p:txBody>
          <a:bodyPr wrap="square">
            <a:spAutoFit/>
          </a:bodyPr>
          <a:lstStyle/>
          <a:p>
            <a:pPr>
              <a:buNone/>
            </a:pPr>
            <a:r>
              <a:rPr lang="en-US" sz="1867" dirty="0">
                <a:solidFill>
                  <a:schemeClr val="bg1"/>
                </a:solidFill>
                <a:latin typeface="Bell MT" panose="02020503060305020303" pitchFamily="18" charset="0"/>
              </a:rPr>
              <a:t>To address these problems, the </a:t>
            </a:r>
            <a:r>
              <a:rPr lang="en-US" sz="1867" b="1" dirty="0">
                <a:solidFill>
                  <a:schemeClr val="bg1"/>
                </a:solidFill>
                <a:latin typeface="Bell MT" panose="02020503060305020303" pitchFamily="18" charset="0"/>
              </a:rPr>
              <a:t>Monthly Expense and Budget Analyzer</a:t>
            </a:r>
            <a:r>
              <a:rPr lang="en-US" sz="1867" dirty="0">
                <a:solidFill>
                  <a:schemeClr val="bg1"/>
                </a:solidFill>
                <a:latin typeface="Bell MT" panose="02020503060305020303" pitchFamily="18" charset="0"/>
              </a:rPr>
              <a:t> provides a simple way to record and analyze financial information. The system takes details such as the number of family members, monthly income, monthly budget, and different types of expenditure. It calculates the </a:t>
            </a:r>
            <a:r>
              <a:rPr lang="en-US" sz="1867" b="1" dirty="0">
                <a:solidFill>
                  <a:schemeClr val="bg1"/>
                </a:solidFill>
                <a:latin typeface="Bell MT" panose="02020503060305020303" pitchFamily="18" charset="0"/>
              </a:rPr>
              <a:t>total monthly expenditure, monthly savings, expenditure per person, and savings percentage</a:t>
            </a:r>
            <a:r>
              <a:rPr lang="en-US" sz="1867" dirty="0">
                <a:solidFill>
                  <a:schemeClr val="bg1"/>
                </a:solidFill>
                <a:latin typeface="Bell MT" panose="02020503060305020303" pitchFamily="18" charset="0"/>
              </a:rPr>
              <a:t>, and also checks whether the expenditure is within the planned budget.</a:t>
            </a:r>
          </a:p>
          <a:p>
            <a:pPr>
              <a:buNone/>
            </a:pPr>
            <a:endParaRPr lang="en-US" sz="1867" dirty="0">
              <a:solidFill>
                <a:schemeClr val="bg1"/>
              </a:solidFill>
              <a:latin typeface="Bell MT" panose="02020503060305020303" pitchFamily="18" charset="0"/>
            </a:endParaRPr>
          </a:p>
          <a:p>
            <a:pPr>
              <a:buNone/>
            </a:pPr>
            <a:r>
              <a:rPr lang="en-US" sz="1867" dirty="0">
                <a:solidFill>
                  <a:schemeClr val="bg1"/>
                </a:solidFill>
                <a:latin typeface="Bell MT" panose="02020503060305020303" pitchFamily="18" charset="0"/>
              </a:rPr>
              <a:t>This helps users understand their financial situation more clearly, control unnecessary expenditure, maintain better savings, and make more informed decisions about their monthly budget and financial planning.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2192000" cy="6858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65942" b="-65942"/>
              </a:stretch>
            </a:blipFill>
          </p:spPr>
        </p:sp>
      </p:grpSp>
      <p:sp>
        <p:nvSpPr>
          <p:cNvPr id="4" name="AutoShape 4"/>
          <p:cNvSpPr/>
          <p:nvPr/>
        </p:nvSpPr>
        <p:spPr>
          <a:xfrm rot="1920">
            <a:off x="385191" y="741788"/>
            <a:ext cx="11421618" cy="0"/>
          </a:xfrm>
          <a:prstGeom prst="line">
            <a:avLst/>
          </a:prstGeom>
          <a:ln w="9525" cap="rnd">
            <a:solidFill>
              <a:srgbClr val="FFFFFF"/>
            </a:solidFill>
            <a:prstDash val="solid"/>
            <a:headEnd type="none" w="sm" len="sm"/>
            <a:tailEnd type="none" w="sm" len="sm"/>
          </a:ln>
        </p:spPr>
      </p:sp>
      <p:sp>
        <p:nvSpPr>
          <p:cNvPr id="5" name="TextBox 5"/>
          <p:cNvSpPr txBox="1"/>
          <p:nvPr/>
        </p:nvSpPr>
        <p:spPr>
          <a:xfrm>
            <a:off x="306495" y="1018433"/>
            <a:ext cx="5974080" cy="3946145"/>
          </a:xfrm>
          <a:prstGeom prst="rect">
            <a:avLst/>
          </a:prstGeom>
        </p:spPr>
        <p:txBody>
          <a:bodyPr lIns="0" tIns="0" rIns="0" bIns="0" rtlCol="0" anchor="t">
            <a:spAutoFit/>
          </a:bodyPr>
          <a:lstStyle/>
          <a:p>
            <a:pPr>
              <a:lnSpc>
                <a:spcPts val="2160"/>
              </a:lnSpc>
            </a:pPr>
            <a:r>
              <a:rPr lang="en-US" dirty="0">
                <a:solidFill>
                  <a:srgbClr val="FFFFFF"/>
                </a:solidFill>
                <a:latin typeface="Bell MT" panose="02020503060305020303" pitchFamily="18" charset="0"/>
                <a:ea typeface="Arial Nova Light"/>
                <a:cs typeface="Arial Nova Light"/>
                <a:sym typeface="Arial Nova Light"/>
              </a:rPr>
              <a:t>From Problem to Program</a:t>
            </a:r>
          </a:p>
          <a:p>
            <a:pPr>
              <a:lnSpc>
                <a:spcPts val="2160"/>
              </a:lnSpc>
            </a:pPr>
            <a:endParaRPr lang="en-US" dirty="0">
              <a:solidFill>
                <a:srgbClr val="FFFFFF"/>
              </a:solidFill>
              <a:latin typeface="Bell MT" panose="02020503060305020303" pitchFamily="18" charset="0"/>
              <a:ea typeface="Arial Nova Light"/>
              <a:cs typeface="Arial Nova Light"/>
              <a:sym typeface="Arial Nova Light"/>
            </a:endParaRPr>
          </a:p>
          <a:p>
            <a:pPr>
              <a:lnSpc>
                <a:spcPts val="2160"/>
              </a:lnSpc>
            </a:pPr>
            <a:r>
              <a:rPr lang="en-US" dirty="0">
                <a:solidFill>
                  <a:srgbClr val="FFFFFF"/>
                </a:solidFill>
                <a:latin typeface="Bell MT" panose="02020503060305020303" pitchFamily="18" charset="0"/>
                <a:ea typeface="Arial Nova Light"/>
                <a:cs typeface="Arial Nova Light"/>
                <a:sym typeface="Arial Nova Light"/>
              </a:rPr>
              <a:t>Computational </a:t>
            </a:r>
            <a:r>
              <a:rPr lang="en-US" dirty="0" err="1">
                <a:solidFill>
                  <a:srgbClr val="FFFFFF"/>
                </a:solidFill>
                <a:latin typeface="Bell MT" panose="02020503060305020303" pitchFamily="18" charset="0"/>
                <a:ea typeface="Arial Nova Light"/>
                <a:cs typeface="Arial Nova Light"/>
                <a:sym typeface="Arial Nova Light"/>
              </a:rPr>
              <a:t>ThinkingInput</a:t>
            </a:r>
            <a:r>
              <a:rPr lang="en-US" dirty="0">
                <a:solidFill>
                  <a:srgbClr val="FFFFFF"/>
                </a:solidFill>
                <a:latin typeface="Bell MT" panose="02020503060305020303" pitchFamily="18" charset="0"/>
                <a:ea typeface="Arial Nova Light"/>
                <a:cs typeface="Arial Nova Light"/>
                <a:sym typeface="Arial Nova Light"/>
              </a:rPr>
              <a:t> → Process → Output</a:t>
            </a:r>
          </a:p>
          <a:p>
            <a:pPr>
              <a:lnSpc>
                <a:spcPts val="2160"/>
              </a:lnSpc>
            </a:pPr>
            <a:r>
              <a:rPr lang="en-US" dirty="0">
                <a:solidFill>
                  <a:srgbClr val="FFFFFF"/>
                </a:solidFill>
                <a:latin typeface="Bell MT" panose="02020503060305020303" pitchFamily="18" charset="0"/>
                <a:ea typeface="Arial Nova Light"/>
                <a:cs typeface="Arial Nova Light"/>
                <a:sym typeface="Arial Nova Light"/>
              </a:rPr>
              <a:t>Problem Specification</a:t>
            </a:r>
          </a:p>
          <a:p>
            <a:pPr>
              <a:lnSpc>
                <a:spcPts val="2160"/>
              </a:lnSpc>
            </a:pPr>
            <a:r>
              <a:rPr lang="en-US" dirty="0">
                <a:solidFill>
                  <a:srgbClr val="FFFFFF"/>
                </a:solidFill>
                <a:latin typeface="Bell MT" panose="02020503060305020303" pitchFamily="18" charset="0"/>
                <a:ea typeface="Arial Nova Light"/>
                <a:cs typeface="Arial Nova Light"/>
                <a:sym typeface="Arial Nova Light"/>
              </a:rPr>
              <a:t>Algorithms / Pseudocode</a:t>
            </a:r>
          </a:p>
          <a:p>
            <a:pPr>
              <a:lnSpc>
                <a:spcPts val="2160"/>
              </a:lnSpc>
            </a:pPr>
            <a:r>
              <a:rPr lang="en-US" dirty="0">
                <a:solidFill>
                  <a:srgbClr val="FFFFFF"/>
                </a:solidFill>
                <a:latin typeface="Bell MT" panose="02020503060305020303" pitchFamily="18" charset="0"/>
                <a:ea typeface="Arial Nova Light"/>
                <a:cs typeface="Arial Nova Light"/>
                <a:sym typeface="Arial Nova Light"/>
              </a:rPr>
              <a:t>Flowcharts</a:t>
            </a:r>
          </a:p>
          <a:p>
            <a:pPr>
              <a:lnSpc>
                <a:spcPts val="2160"/>
              </a:lnSpc>
            </a:pPr>
            <a:r>
              <a:rPr lang="en-US" dirty="0">
                <a:solidFill>
                  <a:srgbClr val="FFFFFF"/>
                </a:solidFill>
                <a:latin typeface="Bell MT" panose="02020503060305020303" pitchFamily="18" charset="0"/>
                <a:ea typeface="Arial Nova Light"/>
                <a:cs typeface="Arial Nova Light"/>
                <a:sym typeface="Arial Nova Light"/>
              </a:rPr>
              <a:t>Trace Tables</a:t>
            </a:r>
          </a:p>
          <a:p>
            <a:pPr>
              <a:lnSpc>
                <a:spcPts val="2160"/>
              </a:lnSpc>
            </a:pPr>
            <a:r>
              <a:rPr lang="en-US" dirty="0">
                <a:solidFill>
                  <a:srgbClr val="FFFFFF"/>
                </a:solidFill>
                <a:latin typeface="Bell MT" panose="02020503060305020303" pitchFamily="18" charset="0"/>
                <a:ea typeface="Arial Nova Light"/>
                <a:cs typeface="Arial Nova Light"/>
                <a:sym typeface="Arial Nova Light"/>
              </a:rPr>
              <a:t>Java Toolchain</a:t>
            </a:r>
          </a:p>
          <a:p>
            <a:pPr>
              <a:lnSpc>
                <a:spcPts val="2160"/>
              </a:lnSpc>
            </a:pPr>
            <a:r>
              <a:rPr lang="en-US" dirty="0">
                <a:solidFill>
                  <a:srgbClr val="FFFFFF"/>
                </a:solidFill>
                <a:latin typeface="Bell MT" panose="02020503060305020303" pitchFamily="18" charset="0"/>
                <a:ea typeface="Arial Nova Light"/>
                <a:cs typeface="Arial Nova Light"/>
                <a:sym typeface="Arial Nova Light"/>
              </a:rPr>
              <a:t>Basic Java Program Structure</a:t>
            </a:r>
          </a:p>
          <a:p>
            <a:pPr>
              <a:lnSpc>
                <a:spcPts val="2160"/>
              </a:lnSpc>
            </a:pPr>
            <a:r>
              <a:rPr lang="en-US" dirty="0">
                <a:solidFill>
                  <a:srgbClr val="FFFFFF"/>
                </a:solidFill>
                <a:latin typeface="Bell MT" panose="02020503060305020303" pitchFamily="18" charset="0"/>
                <a:ea typeface="Arial Nova Light"/>
                <a:cs typeface="Arial Nova Light"/>
                <a:sym typeface="Arial Nova Light"/>
              </a:rPr>
              <a:t>Primitive Data Types</a:t>
            </a:r>
          </a:p>
          <a:p>
            <a:pPr>
              <a:lnSpc>
                <a:spcPts val="2160"/>
              </a:lnSpc>
            </a:pPr>
            <a:r>
              <a:rPr lang="en-US" dirty="0">
                <a:solidFill>
                  <a:srgbClr val="FFFFFF"/>
                </a:solidFill>
                <a:latin typeface="Bell MT" panose="02020503060305020303" pitchFamily="18" charset="0"/>
                <a:ea typeface="Arial Nova Light"/>
                <a:cs typeface="Arial Nova Light"/>
                <a:sym typeface="Arial Nova Light"/>
              </a:rPr>
              <a:t>Variables, Literals &amp; Constants</a:t>
            </a:r>
          </a:p>
          <a:p>
            <a:pPr>
              <a:lnSpc>
                <a:spcPts val="2160"/>
              </a:lnSpc>
            </a:pPr>
            <a:r>
              <a:rPr lang="en-US" dirty="0">
                <a:solidFill>
                  <a:srgbClr val="FFFFFF"/>
                </a:solidFill>
                <a:latin typeface="Bell MT" panose="02020503060305020303" pitchFamily="18" charset="0"/>
                <a:ea typeface="Arial Nova Light"/>
                <a:cs typeface="Arial Nova Light"/>
                <a:sym typeface="Arial Nova Light"/>
              </a:rPr>
              <a:t>Operators &amp; </a:t>
            </a:r>
            <a:r>
              <a:rPr lang="en-US" dirty="0" err="1">
                <a:solidFill>
                  <a:srgbClr val="FFFFFF"/>
                </a:solidFill>
                <a:latin typeface="Bell MT" panose="02020503060305020303" pitchFamily="18" charset="0"/>
                <a:ea typeface="Arial Nova Light"/>
                <a:cs typeface="Arial Nova Light"/>
                <a:sym typeface="Arial Nova Light"/>
              </a:rPr>
              <a:t>ExpressionsType</a:t>
            </a:r>
            <a:r>
              <a:rPr lang="en-US" dirty="0">
                <a:solidFill>
                  <a:srgbClr val="FFFFFF"/>
                </a:solidFill>
                <a:latin typeface="Bell MT" panose="02020503060305020303" pitchFamily="18" charset="0"/>
                <a:ea typeface="Arial Nova Light"/>
                <a:cs typeface="Arial Nova Light"/>
                <a:sym typeface="Arial Nova Light"/>
              </a:rPr>
              <a:t> </a:t>
            </a:r>
          </a:p>
          <a:p>
            <a:pPr>
              <a:lnSpc>
                <a:spcPts val="2160"/>
              </a:lnSpc>
            </a:pPr>
            <a:r>
              <a:rPr lang="en-US" dirty="0">
                <a:solidFill>
                  <a:srgbClr val="FFFFFF"/>
                </a:solidFill>
                <a:latin typeface="Bell MT" panose="02020503060305020303" pitchFamily="18" charset="0"/>
                <a:ea typeface="Arial Nova Light"/>
                <a:cs typeface="Arial Nova Light"/>
                <a:sym typeface="Arial Nova Light"/>
              </a:rPr>
              <a:t>Conversion &amp; </a:t>
            </a:r>
            <a:r>
              <a:rPr lang="en-US" dirty="0" err="1">
                <a:solidFill>
                  <a:srgbClr val="FFFFFF"/>
                </a:solidFill>
                <a:latin typeface="Bell MT" panose="02020503060305020303" pitchFamily="18" charset="0"/>
                <a:ea typeface="Arial Nova Light"/>
                <a:cs typeface="Arial Nova Light"/>
                <a:sym typeface="Arial Nova Light"/>
              </a:rPr>
              <a:t>CastingInteger</a:t>
            </a:r>
            <a:endParaRPr lang="en-US" dirty="0">
              <a:solidFill>
                <a:srgbClr val="FFFFFF"/>
              </a:solidFill>
              <a:latin typeface="Bell MT" panose="02020503060305020303" pitchFamily="18" charset="0"/>
              <a:ea typeface="Arial Nova Light"/>
              <a:cs typeface="Arial Nova Light"/>
              <a:sym typeface="Arial Nova Light"/>
            </a:endParaRPr>
          </a:p>
          <a:p>
            <a:pPr>
              <a:lnSpc>
                <a:spcPts val="2160"/>
              </a:lnSpc>
            </a:pPr>
            <a:r>
              <a:rPr lang="en-US" dirty="0">
                <a:solidFill>
                  <a:srgbClr val="FFFFFF"/>
                </a:solidFill>
                <a:latin typeface="Bell MT" panose="02020503060305020303" pitchFamily="18" charset="0"/>
                <a:ea typeface="Arial Nova Light"/>
                <a:cs typeface="Arial Nova Light"/>
                <a:sym typeface="Arial Nova Light"/>
              </a:rPr>
              <a:t> Division / Overflow / Float Imprecision</a:t>
            </a:r>
          </a:p>
        </p:txBody>
      </p:sp>
      <p:sp>
        <p:nvSpPr>
          <p:cNvPr id="6" name="TextBox 6"/>
          <p:cNvSpPr txBox="1"/>
          <p:nvPr/>
        </p:nvSpPr>
        <p:spPr>
          <a:xfrm>
            <a:off x="306495" y="256807"/>
            <a:ext cx="5974080" cy="487313"/>
          </a:xfrm>
          <a:prstGeom prst="rect">
            <a:avLst/>
          </a:prstGeom>
        </p:spPr>
        <p:txBody>
          <a:bodyPr lIns="0" tIns="0" rIns="0" bIns="0" rtlCol="0" anchor="t">
            <a:spAutoFit/>
          </a:bodyPr>
          <a:lstStyle/>
          <a:p>
            <a:pPr>
              <a:lnSpc>
                <a:spcPts val="3838"/>
              </a:lnSpc>
            </a:pPr>
            <a:r>
              <a:rPr lang="en-US" sz="3200">
                <a:solidFill>
                  <a:srgbClr val="FFFFFF"/>
                </a:solidFill>
                <a:latin typeface="Bell MT" panose="02020503060305020303" pitchFamily="18" charset="0"/>
                <a:ea typeface="Arial Nova Light"/>
                <a:cs typeface="Arial Nova Light"/>
                <a:sym typeface="Arial Nova Light"/>
              </a:rPr>
              <a:t>CO 1 Topics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2192000" cy="6858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65942" b="-65942"/>
              </a:stretch>
            </a:blipFill>
          </p:spPr>
        </p:sp>
      </p:grpSp>
      <p:sp>
        <p:nvSpPr>
          <p:cNvPr id="4" name="AutoShape 4"/>
          <p:cNvSpPr/>
          <p:nvPr/>
        </p:nvSpPr>
        <p:spPr>
          <a:xfrm rot="1920">
            <a:off x="385191" y="741788"/>
            <a:ext cx="11421618" cy="0"/>
          </a:xfrm>
          <a:prstGeom prst="line">
            <a:avLst/>
          </a:prstGeom>
          <a:ln w="9525" cap="rnd">
            <a:solidFill>
              <a:srgbClr val="FFFFFF"/>
            </a:solidFill>
            <a:prstDash val="solid"/>
            <a:headEnd type="none" w="sm" len="sm"/>
            <a:tailEnd type="none" w="sm" len="sm"/>
          </a:ln>
        </p:spPr>
      </p:sp>
      <p:sp>
        <p:nvSpPr>
          <p:cNvPr id="5" name="TextBox 5"/>
          <p:cNvSpPr txBox="1"/>
          <p:nvPr/>
        </p:nvSpPr>
        <p:spPr>
          <a:xfrm>
            <a:off x="1060025" y="919271"/>
            <a:ext cx="5974080" cy="5921044"/>
          </a:xfrm>
          <a:prstGeom prst="rect">
            <a:avLst/>
          </a:prstGeom>
        </p:spPr>
        <p:txBody>
          <a:bodyPr lIns="0" tIns="0" rIns="0" bIns="0" rtlCol="0" anchor="t">
            <a:spAutoFit/>
          </a:bodyPr>
          <a:lstStyle/>
          <a:p>
            <a:pPr>
              <a:lnSpc>
                <a:spcPts val="2160"/>
              </a:lnSpc>
            </a:pPr>
            <a:r>
              <a:rPr lang="en-US">
                <a:solidFill>
                  <a:srgbClr val="FFFFFF"/>
                </a:solidFill>
                <a:latin typeface="Bell MT" panose="02020503060305020303" pitchFamily="18" charset="0"/>
                <a:ea typeface="Arial Nova Light"/>
                <a:cs typeface="Arial Nova Light"/>
                <a:sym typeface="Arial Nova Light"/>
              </a:rPr>
              <a:t>Control Flow</a:t>
            </a:r>
          </a:p>
          <a:p>
            <a:pPr>
              <a:lnSpc>
                <a:spcPts val="2160"/>
              </a:lnSpc>
            </a:pPr>
            <a:r>
              <a:rPr lang="en-US">
                <a:solidFill>
                  <a:srgbClr val="FFFFFF"/>
                </a:solidFill>
                <a:latin typeface="Bell MT" panose="02020503060305020303" pitchFamily="18" charset="0"/>
                <a:ea typeface="Arial Nova Light"/>
                <a:cs typeface="Arial Nova Light"/>
                <a:sym typeface="Arial Nova Light"/>
              </a:rPr>
              <a:t>Selection</a:t>
            </a:r>
          </a:p>
          <a:p>
            <a:pPr>
              <a:lnSpc>
                <a:spcPts val="2160"/>
              </a:lnSpc>
            </a:pPr>
            <a:r>
              <a:rPr lang="en-US">
                <a:solidFill>
                  <a:srgbClr val="FFFFFF"/>
                </a:solidFill>
                <a:latin typeface="Bell MT" panose="02020503060305020303" pitchFamily="18" charset="0"/>
                <a:ea typeface="Arial Nova Light"/>
                <a:cs typeface="Arial Nova Light"/>
                <a:sym typeface="Arial Nova Light"/>
              </a:rPr>
              <a:t>if</a:t>
            </a:r>
          </a:p>
          <a:p>
            <a:pPr>
              <a:lnSpc>
                <a:spcPts val="2160"/>
              </a:lnSpc>
            </a:pPr>
            <a:r>
              <a:rPr lang="en-US">
                <a:solidFill>
                  <a:srgbClr val="FFFFFF"/>
                </a:solidFill>
                <a:latin typeface="Bell MT" panose="02020503060305020303" pitchFamily="18" charset="0"/>
                <a:ea typeface="Arial Nova Light"/>
                <a:cs typeface="Arial Nova Light"/>
                <a:sym typeface="Arial Nova Light"/>
              </a:rPr>
              <a:t>if-else</a:t>
            </a:r>
          </a:p>
          <a:p>
            <a:pPr>
              <a:lnSpc>
                <a:spcPts val="2160"/>
              </a:lnSpc>
            </a:pPr>
            <a:r>
              <a:rPr lang="en-US">
                <a:solidFill>
                  <a:srgbClr val="FFFFFF"/>
                </a:solidFill>
                <a:latin typeface="Bell MT" panose="02020503060305020303" pitchFamily="18" charset="0"/>
                <a:ea typeface="Arial Nova Light"/>
                <a:cs typeface="Arial Nova Light"/>
                <a:sym typeface="Arial Nova Light"/>
              </a:rPr>
              <a:t>Nested if</a:t>
            </a:r>
          </a:p>
          <a:p>
            <a:pPr>
              <a:lnSpc>
                <a:spcPts val="2160"/>
              </a:lnSpc>
            </a:pPr>
            <a:r>
              <a:rPr lang="en-US">
                <a:solidFill>
                  <a:srgbClr val="FFFFFF"/>
                </a:solidFill>
                <a:latin typeface="Bell MT" panose="02020503060305020303" pitchFamily="18" charset="0"/>
                <a:ea typeface="Arial Nova Light"/>
                <a:cs typeface="Arial Nova Light"/>
                <a:sym typeface="Arial Nova Light"/>
              </a:rPr>
              <a:t>if-else-if ladder</a:t>
            </a:r>
          </a:p>
          <a:p>
            <a:pPr>
              <a:lnSpc>
                <a:spcPts val="2160"/>
              </a:lnSpc>
            </a:pPr>
            <a:r>
              <a:rPr lang="en-US">
                <a:solidFill>
                  <a:srgbClr val="FFFFFF"/>
                </a:solidFill>
                <a:latin typeface="Bell MT" panose="02020503060305020303" pitchFamily="18" charset="0"/>
                <a:ea typeface="Arial Nova Light"/>
                <a:cs typeface="Arial Nova Light"/>
                <a:sym typeface="Arial Nova Light"/>
              </a:rPr>
              <a:t>switch</a:t>
            </a:r>
          </a:p>
          <a:p>
            <a:pPr>
              <a:lnSpc>
                <a:spcPts val="2160"/>
              </a:lnSpc>
            </a:pPr>
            <a:r>
              <a:rPr lang="en-US">
                <a:solidFill>
                  <a:srgbClr val="FFFFFF"/>
                </a:solidFill>
                <a:latin typeface="Bell MT" panose="02020503060305020303" pitchFamily="18" charset="0"/>
                <a:ea typeface="Arial Nova Light"/>
                <a:cs typeface="Arial Nova Light"/>
                <a:sym typeface="Arial Nova Light"/>
              </a:rPr>
              <a:t>Boolean conditions</a:t>
            </a:r>
          </a:p>
          <a:p>
            <a:pPr>
              <a:lnSpc>
                <a:spcPts val="2160"/>
              </a:lnSpc>
            </a:pPr>
            <a:r>
              <a:rPr lang="en-US">
                <a:solidFill>
                  <a:srgbClr val="FFFFFF"/>
                </a:solidFill>
                <a:latin typeface="Bell MT" panose="02020503060305020303" pitchFamily="18" charset="0"/>
                <a:ea typeface="Arial Nova Light"/>
                <a:cs typeface="Arial Nova Light"/>
                <a:sym typeface="Arial Nova Light"/>
              </a:rPr>
              <a:t>Short-circuit &amp;&amp; and ||</a:t>
            </a:r>
          </a:p>
          <a:p>
            <a:pPr>
              <a:lnSpc>
                <a:spcPts val="2160"/>
              </a:lnSpc>
            </a:pPr>
            <a:r>
              <a:rPr lang="en-US">
                <a:solidFill>
                  <a:srgbClr val="FFFFFF"/>
                </a:solidFill>
                <a:latin typeface="Bell MT" panose="02020503060305020303" pitchFamily="18" charset="0"/>
                <a:ea typeface="Arial Nova Light"/>
                <a:cs typeface="Arial Nova Light"/>
                <a:sym typeface="Arial Nova Light"/>
              </a:rPr>
              <a:t>Decision Tables</a:t>
            </a:r>
          </a:p>
          <a:p>
            <a:pPr>
              <a:lnSpc>
                <a:spcPts val="2160"/>
              </a:lnSpc>
            </a:pPr>
            <a:r>
              <a:rPr lang="en-US">
                <a:solidFill>
                  <a:srgbClr val="FFFFFF"/>
                </a:solidFill>
                <a:latin typeface="Bell MT" panose="02020503060305020303" pitchFamily="18" charset="0"/>
                <a:ea typeface="Arial Nova Light"/>
                <a:cs typeface="Arial Nova Light"/>
                <a:sym typeface="Arial Nova Light"/>
              </a:rPr>
              <a:t>Iteration</a:t>
            </a:r>
          </a:p>
          <a:p>
            <a:pPr>
              <a:lnSpc>
                <a:spcPts val="2160"/>
              </a:lnSpc>
            </a:pPr>
            <a:r>
              <a:rPr lang="en-US">
                <a:solidFill>
                  <a:srgbClr val="FFFFFF"/>
                </a:solidFill>
                <a:latin typeface="Bell MT" panose="02020503060305020303" pitchFamily="18" charset="0"/>
                <a:ea typeface="Arial Nova Light"/>
                <a:cs typeface="Arial Nova Light"/>
                <a:sym typeface="Arial Nova Light"/>
              </a:rPr>
              <a:t>while</a:t>
            </a:r>
          </a:p>
          <a:p>
            <a:pPr>
              <a:lnSpc>
                <a:spcPts val="2160"/>
              </a:lnSpc>
            </a:pPr>
            <a:r>
              <a:rPr lang="en-US">
                <a:solidFill>
                  <a:srgbClr val="FFFFFF"/>
                </a:solidFill>
                <a:latin typeface="Bell MT" panose="02020503060305020303" pitchFamily="18" charset="0"/>
                <a:ea typeface="Arial Nova Light"/>
                <a:cs typeface="Arial Nova Light"/>
                <a:sym typeface="Arial Nova Light"/>
              </a:rPr>
              <a:t>do-while</a:t>
            </a:r>
          </a:p>
          <a:p>
            <a:pPr>
              <a:lnSpc>
                <a:spcPts val="2160"/>
              </a:lnSpc>
            </a:pPr>
            <a:r>
              <a:rPr lang="en-US">
                <a:solidFill>
                  <a:srgbClr val="FFFFFF"/>
                </a:solidFill>
                <a:latin typeface="Bell MT" panose="02020503060305020303" pitchFamily="18" charset="0"/>
                <a:ea typeface="Arial Nova Light"/>
                <a:cs typeface="Arial Nova Light"/>
                <a:sym typeface="Arial Nova Light"/>
              </a:rPr>
              <a:t>for</a:t>
            </a:r>
          </a:p>
          <a:p>
            <a:pPr>
              <a:lnSpc>
                <a:spcPts val="2160"/>
              </a:lnSpc>
            </a:pPr>
            <a:r>
              <a:rPr lang="en-US">
                <a:solidFill>
                  <a:srgbClr val="FFFFFF"/>
                </a:solidFill>
                <a:latin typeface="Bell MT" panose="02020503060305020303" pitchFamily="18" charset="0"/>
                <a:ea typeface="Arial Nova Light"/>
                <a:cs typeface="Arial Nova Light"/>
                <a:sym typeface="Arial Nova Light"/>
              </a:rPr>
              <a:t>for-each</a:t>
            </a:r>
          </a:p>
          <a:p>
            <a:pPr>
              <a:lnSpc>
                <a:spcPts val="2160"/>
              </a:lnSpc>
            </a:pPr>
            <a:r>
              <a:rPr lang="en-US">
                <a:solidFill>
                  <a:srgbClr val="FFFFFF"/>
                </a:solidFill>
                <a:latin typeface="Bell MT" panose="02020503060305020303" pitchFamily="18" charset="0"/>
                <a:ea typeface="Arial Nova Light"/>
                <a:cs typeface="Arial Nova Light"/>
                <a:sym typeface="Arial Nova Light"/>
              </a:rPr>
              <a:t>Counter-controlled loops</a:t>
            </a:r>
          </a:p>
          <a:p>
            <a:pPr>
              <a:lnSpc>
                <a:spcPts val="2160"/>
              </a:lnSpc>
            </a:pPr>
            <a:r>
              <a:rPr lang="en-US">
                <a:solidFill>
                  <a:srgbClr val="FFFFFF"/>
                </a:solidFill>
                <a:latin typeface="Bell MT" panose="02020503060305020303" pitchFamily="18" charset="0"/>
                <a:ea typeface="Arial Nova Light"/>
                <a:cs typeface="Arial Nova Light"/>
                <a:sym typeface="Arial Nova Light"/>
              </a:rPr>
              <a:t>Sentinel-controlled loops</a:t>
            </a:r>
          </a:p>
          <a:p>
            <a:pPr>
              <a:lnSpc>
                <a:spcPts val="2160"/>
              </a:lnSpc>
            </a:pPr>
            <a:r>
              <a:rPr lang="en-US">
                <a:solidFill>
                  <a:srgbClr val="FFFFFF"/>
                </a:solidFill>
                <a:latin typeface="Bell MT" panose="02020503060305020303" pitchFamily="18" charset="0"/>
                <a:ea typeface="Arial Nova Light"/>
                <a:cs typeface="Arial Nova Light"/>
                <a:sym typeface="Arial Nova Light"/>
              </a:rPr>
              <a:t>Flag-controlled loops</a:t>
            </a:r>
          </a:p>
          <a:p>
            <a:pPr>
              <a:lnSpc>
                <a:spcPts val="2160"/>
              </a:lnSpc>
            </a:pPr>
            <a:r>
              <a:rPr lang="en-US">
                <a:solidFill>
                  <a:srgbClr val="FFFFFF"/>
                </a:solidFill>
                <a:latin typeface="Bell MT" panose="02020503060305020303" pitchFamily="18" charset="0"/>
                <a:ea typeface="Arial Nova Light"/>
                <a:cs typeface="Arial Nova Light"/>
                <a:sym typeface="Arial Nova Light"/>
              </a:rPr>
              <a:t>Nested loops</a:t>
            </a:r>
          </a:p>
          <a:p>
            <a:pPr>
              <a:lnSpc>
                <a:spcPts val="2160"/>
              </a:lnSpc>
            </a:pPr>
            <a:r>
              <a:rPr lang="en-US">
                <a:solidFill>
                  <a:srgbClr val="FFFFFF"/>
                </a:solidFill>
                <a:latin typeface="Bell MT" panose="02020503060305020303" pitchFamily="18" charset="0"/>
                <a:ea typeface="Arial Nova Light"/>
                <a:cs typeface="Arial Nova Light"/>
                <a:sym typeface="Arial Nova Light"/>
              </a:rPr>
              <a:t>break / continue</a:t>
            </a:r>
          </a:p>
          <a:p>
            <a:pPr>
              <a:lnSpc>
                <a:spcPts val="2160"/>
              </a:lnSpc>
            </a:pPr>
            <a:r>
              <a:rPr lang="en-US">
                <a:solidFill>
                  <a:srgbClr val="FFFFFF"/>
                </a:solidFill>
                <a:latin typeface="Bell MT" panose="02020503060305020303" pitchFamily="18" charset="0"/>
                <a:ea typeface="Arial Nova Light"/>
                <a:cs typeface="Arial Nova Light"/>
                <a:sym typeface="Arial Nova Light"/>
              </a:rPr>
              <a:t>Loop termination / loop invariant</a:t>
            </a:r>
          </a:p>
        </p:txBody>
      </p:sp>
      <p:sp>
        <p:nvSpPr>
          <p:cNvPr id="6" name="TextBox 6"/>
          <p:cNvSpPr txBox="1"/>
          <p:nvPr/>
        </p:nvSpPr>
        <p:spPr>
          <a:xfrm>
            <a:off x="983825" y="224429"/>
            <a:ext cx="5974080" cy="487313"/>
          </a:xfrm>
          <a:prstGeom prst="rect">
            <a:avLst/>
          </a:prstGeom>
        </p:spPr>
        <p:txBody>
          <a:bodyPr lIns="0" tIns="0" rIns="0" bIns="0" rtlCol="0" anchor="t">
            <a:spAutoFit/>
          </a:bodyPr>
          <a:lstStyle/>
          <a:p>
            <a:pPr>
              <a:lnSpc>
                <a:spcPts val="3838"/>
              </a:lnSpc>
            </a:pPr>
            <a:r>
              <a:rPr lang="en-US" sz="3200">
                <a:solidFill>
                  <a:srgbClr val="FFFFFF"/>
                </a:solidFill>
                <a:latin typeface="Bell MT" panose="02020503060305020303" pitchFamily="18" charset="0"/>
                <a:ea typeface="Arial Nova Light"/>
                <a:cs typeface="Arial Nova Light"/>
                <a:sym typeface="Arial Nova Light"/>
              </a:rPr>
              <a:t>Co 2 TOPICS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2192000" cy="6858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65942" b="-65942"/>
              </a:stretch>
            </a:blipFill>
          </p:spPr>
        </p:sp>
      </p:grpSp>
      <p:sp>
        <p:nvSpPr>
          <p:cNvPr id="4" name="AutoShape 4"/>
          <p:cNvSpPr/>
          <p:nvPr/>
        </p:nvSpPr>
        <p:spPr>
          <a:xfrm rot="1920">
            <a:off x="385191" y="741788"/>
            <a:ext cx="11421618" cy="0"/>
          </a:xfrm>
          <a:prstGeom prst="line">
            <a:avLst/>
          </a:prstGeom>
          <a:ln w="9525" cap="rnd">
            <a:solidFill>
              <a:srgbClr val="FFFFFF"/>
            </a:solidFill>
            <a:prstDash val="solid"/>
            <a:headEnd type="none" w="sm" len="sm"/>
            <a:tailEnd type="none" w="sm" len="sm"/>
          </a:ln>
        </p:spPr>
      </p:sp>
      <p:sp>
        <p:nvSpPr>
          <p:cNvPr id="5" name="TextBox 5"/>
          <p:cNvSpPr txBox="1"/>
          <p:nvPr/>
        </p:nvSpPr>
        <p:spPr>
          <a:xfrm>
            <a:off x="264161" y="273991"/>
            <a:ext cx="6549815" cy="6318461"/>
          </a:xfrm>
          <a:prstGeom prst="rect">
            <a:avLst/>
          </a:prstGeom>
        </p:spPr>
        <p:txBody>
          <a:bodyPr lIns="0" tIns="0" rIns="0" bIns="0" rtlCol="0" anchor="t">
            <a:spAutoFit/>
          </a:bodyPr>
          <a:lstStyle/>
          <a:p>
            <a:pPr>
              <a:lnSpc>
                <a:spcPts val="2880"/>
              </a:lnSpc>
            </a:pPr>
            <a:r>
              <a:rPr lang="en-US" sz="2400" dirty="0">
                <a:solidFill>
                  <a:srgbClr val="FFFFFF"/>
                </a:solidFill>
                <a:latin typeface="Bell MT" panose="02020503060305020303" pitchFamily="18" charset="0"/>
                <a:ea typeface="Arial Nova Light"/>
                <a:cs typeface="Arial Nova Light"/>
                <a:sym typeface="Arial Nova Light"/>
              </a:rPr>
              <a:t>CO3 —</a:t>
            </a:r>
          </a:p>
          <a:p>
            <a:pPr>
              <a:lnSpc>
                <a:spcPts val="2880"/>
              </a:lnSpc>
            </a:pPr>
            <a:r>
              <a:rPr lang="en-US" sz="2400" dirty="0">
                <a:solidFill>
                  <a:srgbClr val="FFFFFF"/>
                </a:solidFill>
                <a:latin typeface="Bell MT" panose="02020503060305020303" pitchFamily="18" charset="0"/>
                <a:ea typeface="Arial Nova Light"/>
                <a:cs typeface="Arial Nova Light"/>
                <a:sym typeface="Arial Nova Light"/>
              </a:rPr>
              <a:t> Methods, Recursion &amp; Arrays</a:t>
            </a:r>
          </a:p>
          <a:p>
            <a:pPr>
              <a:lnSpc>
                <a:spcPts val="2880"/>
              </a:lnSpc>
            </a:pPr>
            <a:r>
              <a:rPr lang="en-US" sz="2400" dirty="0">
                <a:solidFill>
                  <a:srgbClr val="FFFFFF"/>
                </a:solidFill>
                <a:latin typeface="Bell MT" panose="02020503060305020303" pitchFamily="18" charset="0"/>
                <a:ea typeface="Arial Nova Light"/>
                <a:cs typeface="Arial Nova Light"/>
                <a:sym typeface="Arial Nova Light"/>
              </a:rPr>
              <a:t>Methods</a:t>
            </a:r>
          </a:p>
          <a:p>
            <a:pPr>
              <a:lnSpc>
                <a:spcPts val="2880"/>
              </a:lnSpc>
            </a:pPr>
            <a:r>
              <a:rPr lang="en-US" sz="2400" dirty="0">
                <a:solidFill>
                  <a:srgbClr val="FFFFFF"/>
                </a:solidFill>
                <a:latin typeface="Bell MT" panose="02020503060305020303" pitchFamily="18" charset="0"/>
                <a:ea typeface="Arial Nova Light"/>
                <a:cs typeface="Arial Nova Light"/>
                <a:sym typeface="Arial Nova Light"/>
              </a:rPr>
              <a:t>Method contracts</a:t>
            </a:r>
          </a:p>
          <a:p>
            <a:pPr>
              <a:lnSpc>
                <a:spcPts val="2880"/>
              </a:lnSpc>
            </a:pPr>
            <a:r>
              <a:rPr lang="en-US" sz="2400" dirty="0">
                <a:solidFill>
                  <a:srgbClr val="FFFFFF"/>
                </a:solidFill>
                <a:latin typeface="Bell MT" panose="02020503060305020303" pitchFamily="18" charset="0"/>
                <a:ea typeface="Arial Nova Light"/>
                <a:cs typeface="Arial Nova Light"/>
                <a:sym typeface="Arial Nova Light"/>
              </a:rPr>
              <a:t>Parameters</a:t>
            </a:r>
          </a:p>
          <a:p>
            <a:pPr>
              <a:lnSpc>
                <a:spcPts val="2880"/>
              </a:lnSpc>
            </a:pPr>
            <a:r>
              <a:rPr lang="en-US" sz="2400" dirty="0">
                <a:solidFill>
                  <a:srgbClr val="FFFFFF"/>
                </a:solidFill>
                <a:latin typeface="Bell MT" panose="02020503060305020303" pitchFamily="18" charset="0"/>
                <a:ea typeface="Arial Nova Light"/>
                <a:cs typeface="Arial Nova Light"/>
                <a:sym typeface="Arial Nova Light"/>
              </a:rPr>
              <a:t>Pass-by-value</a:t>
            </a:r>
          </a:p>
          <a:p>
            <a:pPr>
              <a:lnSpc>
                <a:spcPts val="2880"/>
              </a:lnSpc>
            </a:pPr>
            <a:r>
              <a:rPr lang="en-US" sz="2400" dirty="0">
                <a:solidFill>
                  <a:srgbClr val="FFFFFF"/>
                </a:solidFill>
                <a:latin typeface="Bell MT" panose="02020503060305020303" pitchFamily="18" charset="0"/>
                <a:ea typeface="Arial Nova Light"/>
                <a:cs typeface="Arial Nova Light"/>
                <a:sym typeface="Arial Nova Light"/>
              </a:rPr>
              <a:t>Return values</a:t>
            </a:r>
          </a:p>
          <a:p>
            <a:pPr>
              <a:lnSpc>
                <a:spcPts val="2880"/>
              </a:lnSpc>
            </a:pPr>
            <a:r>
              <a:rPr lang="en-US" sz="2400" dirty="0">
                <a:solidFill>
                  <a:srgbClr val="FFFFFF"/>
                </a:solidFill>
                <a:latin typeface="Bell MT" panose="02020503060305020303" pitchFamily="18" charset="0"/>
                <a:ea typeface="Arial Nova Light"/>
                <a:cs typeface="Arial Nova Light"/>
                <a:sym typeface="Arial Nova Light"/>
              </a:rPr>
              <a:t>Scope &amp; lifetime</a:t>
            </a:r>
          </a:p>
          <a:p>
            <a:pPr>
              <a:lnSpc>
                <a:spcPts val="2880"/>
              </a:lnSpc>
            </a:pPr>
            <a:r>
              <a:rPr lang="en-US" sz="2400" dirty="0">
                <a:solidFill>
                  <a:srgbClr val="FFFFFF"/>
                </a:solidFill>
                <a:latin typeface="Bell MT" panose="02020503060305020303" pitchFamily="18" charset="0"/>
                <a:ea typeface="Arial Nova Light"/>
                <a:cs typeface="Arial Nova Light"/>
                <a:sym typeface="Arial Nova Light"/>
              </a:rPr>
              <a:t>Method overloading</a:t>
            </a:r>
          </a:p>
          <a:p>
            <a:pPr>
              <a:lnSpc>
                <a:spcPts val="2880"/>
              </a:lnSpc>
            </a:pPr>
            <a:r>
              <a:rPr lang="en-US" sz="2400" dirty="0">
                <a:solidFill>
                  <a:srgbClr val="FFFFFF"/>
                </a:solidFill>
                <a:latin typeface="Bell MT" panose="02020503060305020303" pitchFamily="18" charset="0"/>
                <a:ea typeface="Arial Nova Light"/>
                <a:cs typeface="Arial Nova Light"/>
                <a:sym typeface="Arial Nova Light"/>
              </a:rPr>
              <a:t>Recursion</a:t>
            </a:r>
          </a:p>
          <a:p>
            <a:pPr>
              <a:lnSpc>
                <a:spcPts val="2880"/>
              </a:lnSpc>
            </a:pPr>
            <a:r>
              <a:rPr lang="en-US" sz="2400" dirty="0">
                <a:solidFill>
                  <a:srgbClr val="FFFFFF"/>
                </a:solidFill>
                <a:latin typeface="Bell MT" panose="02020503060305020303" pitchFamily="18" charset="0"/>
                <a:ea typeface="Arial Nova Light"/>
                <a:cs typeface="Arial Nova Light"/>
                <a:sym typeface="Arial Nova Light"/>
              </a:rPr>
              <a:t>Base case</a:t>
            </a:r>
          </a:p>
          <a:p>
            <a:pPr>
              <a:lnSpc>
                <a:spcPts val="2880"/>
              </a:lnSpc>
            </a:pPr>
            <a:r>
              <a:rPr lang="en-US" sz="2400" dirty="0">
                <a:solidFill>
                  <a:srgbClr val="FFFFFF"/>
                </a:solidFill>
                <a:latin typeface="Bell MT" panose="02020503060305020303" pitchFamily="18" charset="0"/>
                <a:ea typeface="Arial Nova Light"/>
                <a:cs typeface="Arial Nova Light"/>
                <a:sym typeface="Arial Nova Light"/>
              </a:rPr>
              <a:t>Recursive case</a:t>
            </a:r>
          </a:p>
          <a:p>
            <a:pPr>
              <a:lnSpc>
                <a:spcPts val="2880"/>
              </a:lnSpc>
            </a:pPr>
            <a:r>
              <a:rPr lang="en-US" sz="2400" dirty="0">
                <a:solidFill>
                  <a:srgbClr val="FFFFFF"/>
                </a:solidFill>
                <a:latin typeface="Bell MT" panose="02020503060305020303" pitchFamily="18" charset="0"/>
                <a:ea typeface="Arial Nova Light"/>
                <a:cs typeface="Arial Nova Light"/>
                <a:sym typeface="Arial Nova Light"/>
              </a:rPr>
              <a:t>Call stack</a:t>
            </a:r>
          </a:p>
          <a:p>
            <a:pPr>
              <a:lnSpc>
                <a:spcPts val="2880"/>
              </a:lnSpc>
            </a:pPr>
            <a:r>
              <a:rPr lang="en-US" sz="2400" dirty="0">
                <a:solidFill>
                  <a:srgbClr val="FFFFFF"/>
                </a:solidFill>
                <a:latin typeface="Bell MT" panose="02020503060305020303" pitchFamily="18" charset="0"/>
                <a:ea typeface="Arial Nova Light"/>
                <a:cs typeface="Arial Nova Light"/>
                <a:sym typeface="Arial Nova Light"/>
              </a:rPr>
              <a:t>Recursion vs iteration</a:t>
            </a:r>
          </a:p>
          <a:p>
            <a:pPr>
              <a:lnSpc>
                <a:spcPts val="2880"/>
              </a:lnSpc>
            </a:pPr>
            <a:r>
              <a:rPr lang="en-US" sz="2400" dirty="0">
                <a:solidFill>
                  <a:srgbClr val="FFFFFF"/>
                </a:solidFill>
                <a:latin typeface="Bell MT" panose="02020503060305020303" pitchFamily="18" charset="0"/>
                <a:ea typeface="Arial Nova Light"/>
                <a:cs typeface="Arial Nova Light"/>
                <a:sym typeface="Arial Nova Light"/>
              </a:rPr>
              <a:t>Arrays</a:t>
            </a:r>
          </a:p>
          <a:p>
            <a:pPr>
              <a:lnSpc>
                <a:spcPts val="2880"/>
              </a:lnSpc>
            </a:pPr>
            <a:r>
              <a:rPr lang="en-US" sz="2400" dirty="0">
                <a:solidFill>
                  <a:srgbClr val="FFFFFF"/>
                </a:solidFill>
                <a:latin typeface="Bell MT" panose="02020503060305020303" pitchFamily="18" charset="0"/>
                <a:ea typeface="Arial Nova Light"/>
                <a:cs typeface="Arial Nova Light"/>
                <a:sym typeface="Arial Nova Light"/>
              </a:rPr>
              <a:t>1-D arrays</a:t>
            </a:r>
          </a:p>
          <a:p>
            <a:pPr>
              <a:lnSpc>
                <a:spcPts val="2880"/>
              </a:lnSpc>
            </a:pPr>
            <a:r>
              <a:rPr lang="en-US" sz="2400" dirty="0">
                <a:solidFill>
                  <a:srgbClr val="FFFFFF"/>
                </a:solidFill>
                <a:latin typeface="Bell MT" panose="02020503060305020303" pitchFamily="18" charset="0"/>
                <a:ea typeface="Arial Nova Light"/>
                <a:cs typeface="Arial Nova Light"/>
                <a:sym typeface="Arial Nova Light"/>
              </a:rPr>
              <a:t>Declaration &amp; initialization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2192000" cy="6858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65942" b="-65942"/>
              </a:stretch>
            </a:blipFill>
          </p:spPr>
        </p:sp>
      </p:grpSp>
      <p:sp>
        <p:nvSpPr>
          <p:cNvPr id="4" name="AutoShape 4"/>
          <p:cNvSpPr/>
          <p:nvPr/>
        </p:nvSpPr>
        <p:spPr>
          <a:xfrm rot="1920">
            <a:off x="385191" y="741788"/>
            <a:ext cx="11421618" cy="0"/>
          </a:xfrm>
          <a:prstGeom prst="line">
            <a:avLst/>
          </a:prstGeom>
          <a:ln w="9525" cap="rnd">
            <a:solidFill>
              <a:srgbClr val="FFFFFF"/>
            </a:solidFill>
            <a:prstDash val="solid"/>
            <a:headEnd type="none" w="sm" len="sm"/>
            <a:tailEnd type="none" w="sm" len="sm"/>
          </a:ln>
        </p:spPr>
      </p:sp>
      <p:sp>
        <p:nvSpPr>
          <p:cNvPr id="5" name="TextBox 5"/>
          <p:cNvSpPr txBox="1"/>
          <p:nvPr/>
        </p:nvSpPr>
        <p:spPr>
          <a:xfrm>
            <a:off x="385191" y="330200"/>
            <a:ext cx="5974080" cy="3715184"/>
          </a:xfrm>
          <a:prstGeom prst="rect">
            <a:avLst/>
          </a:prstGeom>
        </p:spPr>
        <p:txBody>
          <a:bodyPr lIns="0" tIns="0" rIns="0" bIns="0" rtlCol="0" anchor="t">
            <a:spAutoFit/>
          </a:bodyPr>
          <a:lstStyle/>
          <a:p>
            <a:pPr>
              <a:lnSpc>
                <a:spcPts val="2880"/>
              </a:lnSpc>
            </a:pPr>
            <a:r>
              <a:rPr lang="en-US" sz="2400" dirty="0">
                <a:solidFill>
                  <a:srgbClr val="FFFFFF"/>
                </a:solidFill>
                <a:latin typeface="Bell MT" panose="02020503060305020303" pitchFamily="18" charset="0"/>
                <a:ea typeface="Arial Nova Light"/>
                <a:cs typeface="Arial Nova Light"/>
                <a:sym typeface="Arial Nova Light"/>
              </a:rPr>
              <a:t>Indexing</a:t>
            </a:r>
          </a:p>
          <a:p>
            <a:pPr>
              <a:lnSpc>
                <a:spcPts val="2880"/>
              </a:lnSpc>
            </a:pPr>
            <a:r>
              <a:rPr lang="en-US" sz="2400" dirty="0">
                <a:solidFill>
                  <a:srgbClr val="FFFFFF"/>
                </a:solidFill>
                <a:latin typeface="Bell MT" panose="02020503060305020303" pitchFamily="18" charset="0"/>
                <a:ea typeface="Arial Nova Light"/>
                <a:cs typeface="Arial Nova Light"/>
                <a:sym typeface="Arial Nova Light"/>
              </a:rPr>
              <a:t>length</a:t>
            </a:r>
          </a:p>
          <a:p>
            <a:pPr>
              <a:lnSpc>
                <a:spcPts val="2880"/>
              </a:lnSpc>
            </a:pPr>
            <a:r>
              <a:rPr lang="en-US" sz="2400" dirty="0">
                <a:solidFill>
                  <a:srgbClr val="FFFFFF"/>
                </a:solidFill>
                <a:latin typeface="Bell MT" panose="02020503060305020303" pitchFamily="18" charset="0"/>
                <a:ea typeface="Arial Nova Light"/>
                <a:cs typeface="Arial Nova Light"/>
                <a:sym typeface="Arial Nova Light"/>
              </a:rPr>
              <a:t>Array bounds</a:t>
            </a:r>
          </a:p>
          <a:p>
            <a:pPr>
              <a:lnSpc>
                <a:spcPts val="2880"/>
              </a:lnSpc>
            </a:pPr>
            <a:r>
              <a:rPr lang="en-US" sz="2400" dirty="0">
                <a:solidFill>
                  <a:srgbClr val="FFFFFF"/>
                </a:solidFill>
                <a:latin typeface="Bell MT" panose="02020503060305020303" pitchFamily="18" charset="0"/>
                <a:ea typeface="Arial Nova Light"/>
                <a:cs typeface="Arial Nova Light"/>
                <a:sym typeface="Arial Nova Light"/>
              </a:rPr>
              <a:t>Traversal</a:t>
            </a:r>
          </a:p>
          <a:p>
            <a:pPr>
              <a:lnSpc>
                <a:spcPts val="2880"/>
              </a:lnSpc>
            </a:pPr>
            <a:r>
              <a:rPr lang="en-US" sz="2400" dirty="0">
                <a:solidFill>
                  <a:srgbClr val="FFFFFF"/>
                </a:solidFill>
                <a:latin typeface="Bell MT" panose="02020503060305020303" pitchFamily="18" charset="0"/>
                <a:ea typeface="Arial Nova Light"/>
                <a:cs typeface="Arial Nova Light"/>
                <a:sym typeface="Arial Nova Light"/>
              </a:rPr>
              <a:t>Searching</a:t>
            </a:r>
          </a:p>
          <a:p>
            <a:pPr>
              <a:lnSpc>
                <a:spcPts val="2880"/>
              </a:lnSpc>
            </a:pPr>
            <a:r>
              <a:rPr lang="en-US" sz="2400" dirty="0">
                <a:solidFill>
                  <a:srgbClr val="FFFFFF"/>
                </a:solidFill>
                <a:latin typeface="Bell MT" panose="02020503060305020303" pitchFamily="18" charset="0"/>
                <a:ea typeface="Arial Nova Light"/>
                <a:cs typeface="Arial Nova Light"/>
                <a:sym typeface="Arial Nova Light"/>
              </a:rPr>
              <a:t>Finding extremes</a:t>
            </a:r>
          </a:p>
          <a:p>
            <a:pPr>
              <a:lnSpc>
                <a:spcPts val="2880"/>
              </a:lnSpc>
            </a:pPr>
            <a:r>
              <a:rPr lang="en-US" sz="2400" dirty="0">
                <a:solidFill>
                  <a:srgbClr val="FFFFFF"/>
                </a:solidFill>
                <a:latin typeface="Bell MT" panose="02020503060305020303" pitchFamily="18" charset="0"/>
                <a:ea typeface="Arial Nova Light"/>
                <a:cs typeface="Arial Nova Light"/>
                <a:sym typeface="Arial Nova Light"/>
              </a:rPr>
              <a:t>Counting</a:t>
            </a:r>
          </a:p>
          <a:p>
            <a:pPr>
              <a:lnSpc>
                <a:spcPts val="2880"/>
              </a:lnSpc>
            </a:pPr>
            <a:r>
              <a:rPr lang="en-US" sz="2400" dirty="0">
                <a:solidFill>
                  <a:srgbClr val="FFFFFF"/>
                </a:solidFill>
                <a:latin typeface="Bell MT" panose="02020503060305020303" pitchFamily="18" charset="0"/>
                <a:ea typeface="Arial Nova Light"/>
                <a:cs typeface="Arial Nova Light"/>
                <a:sym typeface="Arial Nova Light"/>
              </a:rPr>
              <a:t>2-D arrays</a:t>
            </a:r>
          </a:p>
          <a:p>
            <a:pPr>
              <a:lnSpc>
                <a:spcPts val="2880"/>
              </a:lnSpc>
            </a:pPr>
            <a:r>
              <a:rPr lang="en-US" sz="2400" dirty="0">
                <a:solidFill>
                  <a:srgbClr val="FFFFFF"/>
                </a:solidFill>
                <a:latin typeface="Bell MT" panose="02020503060305020303" pitchFamily="18" charset="0"/>
                <a:ea typeface="Arial Nova Light"/>
                <a:cs typeface="Arial Nova Light"/>
                <a:sym typeface="Arial Nova Light"/>
              </a:rPr>
              <a:t>Nested-loop processing</a:t>
            </a:r>
          </a:p>
          <a:p>
            <a:pPr>
              <a:lnSpc>
                <a:spcPts val="2880"/>
              </a:lnSpc>
            </a:pPr>
            <a:r>
              <a:rPr lang="en-US" sz="2400" dirty="0">
                <a:solidFill>
                  <a:srgbClr val="FFFFFF"/>
                </a:solidFill>
                <a:latin typeface="Bell MT" panose="02020503060305020303" pitchFamily="18" charset="0"/>
                <a:ea typeface="Arial Nova Light"/>
                <a:cs typeface="Arial Nova Light"/>
                <a:sym typeface="Arial Nova Light"/>
              </a:rPr>
              <a:t>Arrays as references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626" y="-18774"/>
            <a:ext cx="12192000" cy="6858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 name="TextBox 3"/>
          <p:cNvSpPr txBox="1"/>
          <p:nvPr/>
        </p:nvSpPr>
        <p:spPr>
          <a:xfrm>
            <a:off x="3759200" y="69838"/>
            <a:ext cx="5334000" cy="366062"/>
          </a:xfrm>
          <a:prstGeom prst="rect">
            <a:avLst/>
          </a:prstGeom>
        </p:spPr>
        <p:txBody>
          <a:bodyPr wrap="square" lIns="0" tIns="0" rIns="0" bIns="0" rtlCol="0" anchor="t">
            <a:spAutoFit/>
          </a:bodyPr>
          <a:lstStyle/>
          <a:p>
            <a:pPr>
              <a:lnSpc>
                <a:spcPts val="2880"/>
              </a:lnSpc>
            </a:pPr>
            <a:r>
              <a:rPr lang="en-US" sz="2400" b="1" dirty="0">
                <a:solidFill>
                  <a:schemeClr val="accent5">
                    <a:lumMod val="50000"/>
                  </a:schemeClr>
                </a:solidFill>
                <a:latin typeface="Bell MT" panose="02020503060305020303" pitchFamily="18" charset="0"/>
                <a:ea typeface="Calibri (MS)"/>
                <a:cs typeface="Calibri (MS)"/>
                <a:sym typeface="Calibri (MS)"/>
              </a:rPr>
              <a:t>Code For Monthly Financial Analysis</a:t>
            </a:r>
          </a:p>
        </p:txBody>
      </p:sp>
      <p:sp>
        <p:nvSpPr>
          <p:cNvPr id="4" name="TextBox 4"/>
          <p:cNvSpPr txBox="1"/>
          <p:nvPr/>
        </p:nvSpPr>
        <p:spPr>
          <a:xfrm>
            <a:off x="355600" y="381000"/>
            <a:ext cx="5974080" cy="6206827"/>
          </a:xfrm>
          <a:prstGeom prst="rect">
            <a:avLst/>
          </a:prstGeom>
        </p:spPr>
        <p:txBody>
          <a:bodyPr lIns="0" tIns="0" rIns="0" bIns="0" rtlCol="0" anchor="t">
            <a:spAutoFit/>
          </a:bodyPr>
          <a:lstStyle/>
          <a:p>
            <a:pPr>
              <a:lnSpc>
                <a:spcPts val="2239"/>
              </a:lnSpc>
            </a:pPr>
            <a:r>
              <a:rPr lang="en-US" sz="1866" dirty="0">
                <a:solidFill>
                  <a:srgbClr val="002060"/>
                </a:solidFill>
                <a:latin typeface="Bell MT" panose="02020503060305020303" pitchFamily="18" charset="0"/>
                <a:ea typeface="Calibri (MS)"/>
                <a:cs typeface="Calibri (MS)"/>
                <a:sym typeface="Calibri (MS)"/>
              </a:rPr>
              <a:t>import </a:t>
            </a:r>
            <a:r>
              <a:rPr lang="en-US" sz="1866" dirty="0" err="1">
                <a:solidFill>
                  <a:srgbClr val="002060"/>
                </a:solidFill>
                <a:latin typeface="Bell MT" panose="02020503060305020303" pitchFamily="18" charset="0"/>
                <a:ea typeface="Calibri (MS)"/>
                <a:cs typeface="Calibri (MS)"/>
                <a:sym typeface="Calibri (MS)"/>
              </a:rPr>
              <a:t>java.util.Scanner</a:t>
            </a:r>
            <a:r>
              <a:rPr lang="en-US" sz="1866" dirty="0">
                <a:solidFill>
                  <a:srgbClr val="002060"/>
                </a:solidFill>
                <a:latin typeface="Bell MT" panose="02020503060305020303" pitchFamily="18" charset="0"/>
                <a:ea typeface="Calibri (MS)"/>
                <a:cs typeface="Calibri (MS)"/>
                <a:sym typeface="Calibri (MS)"/>
              </a:rPr>
              <a:t>; </a:t>
            </a:r>
          </a:p>
          <a:p>
            <a:pPr>
              <a:lnSpc>
                <a:spcPts val="2239"/>
              </a:lnSpc>
            </a:pPr>
            <a:r>
              <a:rPr lang="en-US" sz="1866" dirty="0">
                <a:solidFill>
                  <a:srgbClr val="002060"/>
                </a:solidFill>
                <a:latin typeface="Bell MT" panose="02020503060305020303" pitchFamily="18" charset="0"/>
                <a:ea typeface="Calibri (MS)"/>
                <a:cs typeface="Calibri (MS)"/>
                <a:sym typeface="Calibri (MS)"/>
              </a:rPr>
              <a:t>class </a:t>
            </a:r>
            <a:r>
              <a:rPr lang="en-US" sz="1866" dirty="0" err="1">
                <a:solidFill>
                  <a:srgbClr val="002060"/>
                </a:solidFill>
                <a:latin typeface="Bell MT" panose="02020503060305020303" pitchFamily="18" charset="0"/>
                <a:ea typeface="Calibri (MS)"/>
                <a:cs typeface="Calibri (MS)"/>
                <a:sym typeface="Calibri (MS)"/>
              </a:rPr>
              <a:t>MonthlyExpenseAnalyzer</a:t>
            </a:r>
            <a:r>
              <a:rPr lang="en-US" sz="1866" dirty="0">
                <a:solidFill>
                  <a:srgbClr val="002060"/>
                </a:solidFill>
                <a:latin typeface="Bell MT" panose="02020503060305020303" pitchFamily="18" charset="0"/>
                <a:ea typeface="Calibri (MS)"/>
                <a:cs typeface="Calibri (MS)"/>
                <a:sym typeface="Calibri (MS)"/>
              </a:rPr>
              <a:t> {</a:t>
            </a:r>
          </a:p>
          <a:p>
            <a:pPr>
              <a:lnSpc>
                <a:spcPts val="2239"/>
              </a:lnSpc>
            </a:pPr>
            <a:r>
              <a:rPr lang="en-US" sz="1866" dirty="0">
                <a:solidFill>
                  <a:srgbClr val="002060"/>
                </a:solidFill>
                <a:latin typeface="Bell MT" panose="02020503060305020303" pitchFamily="18" charset="0"/>
                <a:ea typeface="Calibri (MS)"/>
                <a:cs typeface="Calibri (MS)"/>
                <a:sym typeface="Calibri (MS)"/>
              </a:rPr>
              <a:t> public static void main(String[] </a:t>
            </a:r>
            <a:r>
              <a:rPr lang="en-US" sz="1866" dirty="0" err="1">
                <a:solidFill>
                  <a:srgbClr val="002060"/>
                </a:solidFill>
                <a:latin typeface="Bell MT" panose="02020503060305020303" pitchFamily="18" charset="0"/>
                <a:ea typeface="Calibri (MS)"/>
                <a:cs typeface="Calibri (MS)"/>
                <a:sym typeface="Calibri (MS)"/>
              </a:rPr>
              <a:t>args</a:t>
            </a:r>
            <a:r>
              <a:rPr lang="en-US" sz="1866" dirty="0">
                <a:solidFill>
                  <a:srgbClr val="002060"/>
                </a:solidFill>
                <a:latin typeface="Bell MT" panose="02020503060305020303" pitchFamily="18" charset="0"/>
                <a:ea typeface="Calibri (MS)"/>
                <a:cs typeface="Calibri (MS)"/>
                <a:sym typeface="Calibri (MS)"/>
              </a:rPr>
              <a:t>) { </a:t>
            </a:r>
          </a:p>
          <a:p>
            <a:pPr>
              <a:lnSpc>
                <a:spcPts val="2239"/>
              </a:lnSpc>
            </a:pPr>
            <a:r>
              <a:rPr lang="en-US" sz="1866" dirty="0">
                <a:solidFill>
                  <a:srgbClr val="002060"/>
                </a:solidFill>
                <a:latin typeface="Bell MT" panose="02020503060305020303" pitchFamily="18" charset="0"/>
                <a:ea typeface="Calibri (MS)"/>
                <a:cs typeface="Calibri (MS)"/>
                <a:sym typeface="Calibri (MS)"/>
              </a:rPr>
              <a:t>Scanner </a:t>
            </a:r>
            <a:r>
              <a:rPr lang="en-US" sz="1866" dirty="0" err="1">
                <a:solidFill>
                  <a:srgbClr val="002060"/>
                </a:solidFill>
                <a:latin typeface="Bell MT" panose="02020503060305020303" pitchFamily="18" charset="0"/>
                <a:ea typeface="Calibri (MS)"/>
                <a:cs typeface="Calibri (MS)"/>
                <a:sym typeface="Calibri (MS)"/>
              </a:rPr>
              <a:t>sc</a:t>
            </a:r>
            <a:r>
              <a:rPr lang="en-US" sz="1866" dirty="0">
                <a:solidFill>
                  <a:srgbClr val="002060"/>
                </a:solidFill>
                <a:latin typeface="Bell MT" panose="02020503060305020303" pitchFamily="18" charset="0"/>
                <a:ea typeface="Calibri (MS)"/>
                <a:cs typeface="Calibri (MS)"/>
                <a:sym typeface="Calibri (MS)"/>
              </a:rPr>
              <a:t> = new Scanner(System.in); // Family details </a:t>
            </a:r>
          </a:p>
          <a:p>
            <a:pPr>
              <a:lnSpc>
                <a:spcPts val="2239"/>
              </a:lnSpc>
            </a:pPr>
            <a:r>
              <a:rPr lang="en-US" sz="1866" dirty="0" err="1">
                <a:solidFill>
                  <a:srgbClr val="002060"/>
                </a:solidFill>
                <a:latin typeface="Bell MT" panose="02020503060305020303" pitchFamily="18" charset="0"/>
                <a:ea typeface="Calibri (MS)"/>
                <a:cs typeface="Calibri (MS)"/>
                <a:sym typeface="Calibri (MS)"/>
              </a:rPr>
              <a:t>System.out.print</a:t>
            </a:r>
            <a:r>
              <a:rPr lang="en-US" sz="1866" dirty="0">
                <a:solidFill>
                  <a:srgbClr val="002060"/>
                </a:solidFill>
                <a:latin typeface="Bell MT" panose="02020503060305020303" pitchFamily="18" charset="0"/>
                <a:ea typeface="Calibri (MS)"/>
                <a:cs typeface="Calibri (MS)"/>
                <a:sym typeface="Calibri (MS)"/>
              </a:rPr>
              <a:t>("Enter number of family members: ");</a:t>
            </a:r>
          </a:p>
          <a:p>
            <a:pPr>
              <a:lnSpc>
                <a:spcPts val="2239"/>
              </a:lnSpc>
            </a:pPr>
            <a:r>
              <a:rPr lang="en-US" sz="1866" dirty="0">
                <a:solidFill>
                  <a:srgbClr val="002060"/>
                </a:solidFill>
                <a:latin typeface="Bell MT" panose="02020503060305020303" pitchFamily="18" charset="0"/>
                <a:ea typeface="Calibri (MS)"/>
                <a:cs typeface="Calibri (MS)"/>
                <a:sym typeface="Calibri (MS)"/>
              </a:rPr>
              <a:t> int </a:t>
            </a:r>
            <a:r>
              <a:rPr lang="en-US" sz="1866" dirty="0" err="1">
                <a:solidFill>
                  <a:srgbClr val="002060"/>
                </a:solidFill>
                <a:latin typeface="Bell MT" panose="02020503060305020303" pitchFamily="18" charset="0"/>
                <a:ea typeface="Calibri (MS)"/>
                <a:cs typeface="Calibri (MS)"/>
                <a:sym typeface="Calibri (MS)"/>
              </a:rPr>
              <a:t>familyMembers</a:t>
            </a:r>
            <a:r>
              <a:rPr lang="en-US" sz="1866" dirty="0">
                <a:solidFill>
                  <a:srgbClr val="002060"/>
                </a:solidFill>
                <a:latin typeface="Bell MT" panose="02020503060305020303" pitchFamily="18" charset="0"/>
                <a:ea typeface="Calibri (MS)"/>
                <a:cs typeface="Calibri (MS)"/>
                <a:sym typeface="Calibri (MS)"/>
              </a:rPr>
              <a:t> = </a:t>
            </a:r>
            <a:r>
              <a:rPr lang="en-US" sz="1866" dirty="0" err="1">
                <a:solidFill>
                  <a:srgbClr val="002060"/>
                </a:solidFill>
                <a:latin typeface="Bell MT" panose="02020503060305020303" pitchFamily="18" charset="0"/>
                <a:ea typeface="Calibri (MS)"/>
                <a:cs typeface="Calibri (MS)"/>
                <a:sym typeface="Calibri (MS)"/>
              </a:rPr>
              <a:t>sc.nextInt</a:t>
            </a:r>
            <a:r>
              <a:rPr lang="en-US" sz="1866" dirty="0">
                <a:solidFill>
                  <a:srgbClr val="002060"/>
                </a:solidFill>
                <a:latin typeface="Bell MT" panose="02020503060305020303" pitchFamily="18" charset="0"/>
                <a:ea typeface="Calibri (MS)"/>
                <a:cs typeface="Calibri (MS)"/>
                <a:sym typeface="Calibri (MS)"/>
              </a:rPr>
              <a:t>();</a:t>
            </a:r>
          </a:p>
          <a:p>
            <a:pPr>
              <a:lnSpc>
                <a:spcPts val="2239"/>
              </a:lnSpc>
            </a:pPr>
            <a:r>
              <a:rPr lang="en-US" sz="1866" dirty="0">
                <a:solidFill>
                  <a:srgbClr val="002060"/>
                </a:solidFill>
                <a:latin typeface="Bell MT" panose="02020503060305020303" pitchFamily="18" charset="0"/>
                <a:ea typeface="Calibri (MS)"/>
                <a:cs typeface="Calibri (MS)"/>
                <a:sym typeface="Calibri (MS)"/>
              </a:rPr>
              <a:t> </a:t>
            </a:r>
            <a:r>
              <a:rPr lang="en-US" sz="1866" dirty="0" err="1">
                <a:solidFill>
                  <a:srgbClr val="002060"/>
                </a:solidFill>
                <a:latin typeface="Bell MT" panose="02020503060305020303" pitchFamily="18" charset="0"/>
                <a:ea typeface="Calibri (MS)"/>
                <a:cs typeface="Calibri (MS)"/>
                <a:sym typeface="Calibri (MS)"/>
              </a:rPr>
              <a:t>System.out.print</a:t>
            </a:r>
            <a:r>
              <a:rPr lang="en-US" sz="1866" dirty="0">
                <a:solidFill>
                  <a:srgbClr val="002060"/>
                </a:solidFill>
                <a:latin typeface="Bell MT" panose="02020503060305020303" pitchFamily="18" charset="0"/>
                <a:ea typeface="Calibri (MS)"/>
                <a:cs typeface="Calibri (MS)"/>
                <a:sym typeface="Calibri (MS)"/>
              </a:rPr>
              <a:t>("Enter monthly income: ₹"); </a:t>
            </a:r>
          </a:p>
          <a:p>
            <a:pPr>
              <a:lnSpc>
                <a:spcPts val="2239"/>
              </a:lnSpc>
            </a:pPr>
            <a:r>
              <a:rPr lang="en-US" sz="1866" dirty="0">
                <a:solidFill>
                  <a:srgbClr val="002060"/>
                </a:solidFill>
                <a:latin typeface="Bell MT" panose="02020503060305020303" pitchFamily="18" charset="0"/>
                <a:ea typeface="Calibri (MS)"/>
                <a:cs typeface="Calibri (MS)"/>
                <a:sym typeface="Calibri (MS)"/>
              </a:rPr>
              <a:t>double income = </a:t>
            </a:r>
            <a:r>
              <a:rPr lang="en-US" sz="1866" dirty="0" err="1">
                <a:solidFill>
                  <a:srgbClr val="002060"/>
                </a:solidFill>
                <a:latin typeface="Bell MT" panose="02020503060305020303" pitchFamily="18" charset="0"/>
                <a:ea typeface="Calibri (MS)"/>
                <a:cs typeface="Calibri (MS)"/>
                <a:sym typeface="Calibri (MS)"/>
              </a:rPr>
              <a:t>sc.nextDouble</a:t>
            </a:r>
            <a:r>
              <a:rPr lang="en-US" sz="1866" dirty="0">
                <a:solidFill>
                  <a:srgbClr val="002060"/>
                </a:solidFill>
                <a:latin typeface="Bell MT" panose="02020503060305020303" pitchFamily="18" charset="0"/>
                <a:ea typeface="Calibri (MS)"/>
                <a:cs typeface="Calibri (MS)"/>
                <a:sym typeface="Calibri (MS)"/>
              </a:rPr>
              <a:t>(); </a:t>
            </a:r>
          </a:p>
          <a:p>
            <a:pPr>
              <a:lnSpc>
                <a:spcPts val="2239"/>
              </a:lnSpc>
            </a:pPr>
            <a:r>
              <a:rPr lang="en-US" sz="1866" dirty="0" err="1">
                <a:solidFill>
                  <a:srgbClr val="002060"/>
                </a:solidFill>
                <a:latin typeface="Bell MT" panose="02020503060305020303" pitchFamily="18" charset="0"/>
                <a:ea typeface="Calibri (MS)"/>
                <a:cs typeface="Calibri (MS)"/>
                <a:sym typeface="Calibri (MS)"/>
              </a:rPr>
              <a:t>System.out.print</a:t>
            </a:r>
            <a:r>
              <a:rPr lang="en-US" sz="1866" dirty="0">
                <a:solidFill>
                  <a:srgbClr val="002060"/>
                </a:solidFill>
                <a:latin typeface="Bell MT" panose="02020503060305020303" pitchFamily="18" charset="0"/>
                <a:ea typeface="Calibri (MS)"/>
                <a:cs typeface="Calibri (MS)"/>
                <a:sym typeface="Calibri (MS)"/>
              </a:rPr>
              <a:t>("Enter monthly budget: ₹"); </a:t>
            </a:r>
          </a:p>
          <a:p>
            <a:pPr>
              <a:lnSpc>
                <a:spcPts val="2239"/>
              </a:lnSpc>
            </a:pPr>
            <a:r>
              <a:rPr lang="en-US" sz="1866" dirty="0">
                <a:solidFill>
                  <a:srgbClr val="002060"/>
                </a:solidFill>
                <a:latin typeface="Bell MT" panose="02020503060305020303" pitchFamily="18" charset="0"/>
                <a:ea typeface="Calibri (MS)"/>
                <a:cs typeface="Calibri (MS)"/>
                <a:sym typeface="Calibri (MS)"/>
              </a:rPr>
              <a:t>double budget = </a:t>
            </a:r>
            <a:r>
              <a:rPr lang="en-US" sz="1866" dirty="0" err="1">
                <a:solidFill>
                  <a:srgbClr val="002060"/>
                </a:solidFill>
                <a:latin typeface="Bell MT" panose="02020503060305020303" pitchFamily="18" charset="0"/>
                <a:ea typeface="Calibri (MS)"/>
                <a:cs typeface="Calibri (MS)"/>
                <a:sym typeface="Calibri (MS)"/>
              </a:rPr>
              <a:t>sc.nextDouble</a:t>
            </a:r>
            <a:r>
              <a:rPr lang="en-US" sz="1866" dirty="0">
                <a:solidFill>
                  <a:srgbClr val="002060"/>
                </a:solidFill>
                <a:latin typeface="Bell MT" panose="02020503060305020303" pitchFamily="18" charset="0"/>
                <a:ea typeface="Calibri (MS)"/>
                <a:cs typeface="Calibri (MS)"/>
                <a:sym typeface="Calibri (MS)"/>
              </a:rPr>
              <a:t>(); // Monthly expenditure </a:t>
            </a:r>
          </a:p>
          <a:p>
            <a:pPr>
              <a:lnSpc>
                <a:spcPts val="2239"/>
              </a:lnSpc>
            </a:pPr>
            <a:r>
              <a:rPr lang="en-US" sz="1866" dirty="0" err="1">
                <a:solidFill>
                  <a:srgbClr val="002060"/>
                </a:solidFill>
                <a:latin typeface="Bell MT" panose="02020503060305020303" pitchFamily="18" charset="0"/>
                <a:ea typeface="Calibri (MS)"/>
                <a:cs typeface="Calibri (MS)"/>
                <a:sym typeface="Calibri (MS)"/>
              </a:rPr>
              <a:t>System.out.print</a:t>
            </a:r>
            <a:r>
              <a:rPr lang="en-US" sz="1866" dirty="0">
                <a:solidFill>
                  <a:srgbClr val="002060"/>
                </a:solidFill>
                <a:latin typeface="Bell MT" panose="02020503060305020303" pitchFamily="18" charset="0"/>
                <a:ea typeface="Calibri (MS)"/>
                <a:cs typeface="Calibri (MS)"/>
                <a:sym typeface="Calibri (MS)"/>
              </a:rPr>
              <a:t>("Enter food expenditure: ₹"); </a:t>
            </a:r>
          </a:p>
          <a:p>
            <a:pPr>
              <a:lnSpc>
                <a:spcPts val="2239"/>
              </a:lnSpc>
            </a:pPr>
            <a:r>
              <a:rPr lang="en-US" sz="1866" dirty="0">
                <a:solidFill>
                  <a:srgbClr val="002060"/>
                </a:solidFill>
                <a:latin typeface="Bell MT" panose="02020503060305020303" pitchFamily="18" charset="0"/>
                <a:ea typeface="Calibri (MS)"/>
                <a:cs typeface="Calibri (MS)"/>
                <a:sym typeface="Calibri (MS)"/>
              </a:rPr>
              <a:t>double food = </a:t>
            </a:r>
            <a:r>
              <a:rPr lang="en-US" sz="1866" dirty="0" err="1">
                <a:solidFill>
                  <a:srgbClr val="002060"/>
                </a:solidFill>
                <a:latin typeface="Bell MT" panose="02020503060305020303" pitchFamily="18" charset="0"/>
                <a:ea typeface="Calibri (MS)"/>
                <a:cs typeface="Calibri (MS)"/>
                <a:sym typeface="Calibri (MS)"/>
              </a:rPr>
              <a:t>sc.nextDouble</a:t>
            </a:r>
            <a:r>
              <a:rPr lang="en-US" sz="1866" dirty="0">
                <a:solidFill>
                  <a:srgbClr val="002060"/>
                </a:solidFill>
                <a:latin typeface="Bell MT" panose="02020503060305020303" pitchFamily="18" charset="0"/>
                <a:ea typeface="Calibri (MS)"/>
                <a:cs typeface="Calibri (MS)"/>
                <a:sym typeface="Calibri (MS)"/>
              </a:rPr>
              <a:t>(); </a:t>
            </a:r>
          </a:p>
          <a:p>
            <a:pPr>
              <a:lnSpc>
                <a:spcPts val="2239"/>
              </a:lnSpc>
            </a:pPr>
            <a:r>
              <a:rPr lang="en-US" sz="1866" dirty="0" err="1">
                <a:solidFill>
                  <a:srgbClr val="002060"/>
                </a:solidFill>
                <a:latin typeface="Bell MT" panose="02020503060305020303" pitchFamily="18" charset="0"/>
                <a:ea typeface="Calibri (MS)"/>
                <a:cs typeface="Calibri (MS)"/>
                <a:sym typeface="Calibri (MS)"/>
              </a:rPr>
              <a:t>System.out.print</a:t>
            </a:r>
            <a:r>
              <a:rPr lang="en-US" sz="1866" dirty="0">
                <a:solidFill>
                  <a:srgbClr val="002060"/>
                </a:solidFill>
                <a:latin typeface="Bell MT" panose="02020503060305020303" pitchFamily="18" charset="0"/>
                <a:ea typeface="Calibri (MS)"/>
                <a:cs typeface="Calibri (MS)"/>
                <a:sym typeface="Calibri (MS)"/>
              </a:rPr>
              <a:t>("Enter house rent expenditure: ₹");</a:t>
            </a:r>
          </a:p>
          <a:p>
            <a:pPr>
              <a:lnSpc>
                <a:spcPts val="2239"/>
              </a:lnSpc>
            </a:pPr>
            <a:r>
              <a:rPr lang="en-US" sz="1866" dirty="0">
                <a:solidFill>
                  <a:srgbClr val="002060"/>
                </a:solidFill>
                <a:latin typeface="Bell MT" panose="02020503060305020303" pitchFamily="18" charset="0"/>
                <a:ea typeface="Calibri (MS)"/>
                <a:cs typeface="Calibri (MS)"/>
                <a:sym typeface="Calibri (MS)"/>
              </a:rPr>
              <a:t> double rent = </a:t>
            </a:r>
            <a:r>
              <a:rPr lang="en-US" sz="1866" dirty="0" err="1">
                <a:solidFill>
                  <a:srgbClr val="002060"/>
                </a:solidFill>
                <a:latin typeface="Bell MT" panose="02020503060305020303" pitchFamily="18" charset="0"/>
                <a:ea typeface="Calibri (MS)"/>
                <a:cs typeface="Calibri (MS)"/>
                <a:sym typeface="Calibri (MS)"/>
              </a:rPr>
              <a:t>sc.nextDouble</a:t>
            </a:r>
            <a:r>
              <a:rPr lang="en-US" sz="1866" dirty="0">
                <a:solidFill>
                  <a:srgbClr val="002060"/>
                </a:solidFill>
                <a:latin typeface="Bell MT" panose="02020503060305020303" pitchFamily="18" charset="0"/>
                <a:ea typeface="Calibri (MS)"/>
                <a:cs typeface="Calibri (MS)"/>
                <a:sym typeface="Calibri (MS)"/>
              </a:rPr>
              <a:t>(); </a:t>
            </a:r>
          </a:p>
          <a:p>
            <a:pPr>
              <a:lnSpc>
                <a:spcPts val="2239"/>
              </a:lnSpc>
            </a:pPr>
            <a:r>
              <a:rPr lang="en-US" sz="1866" dirty="0" err="1">
                <a:solidFill>
                  <a:srgbClr val="002060"/>
                </a:solidFill>
                <a:latin typeface="Bell MT" panose="02020503060305020303" pitchFamily="18" charset="0"/>
                <a:ea typeface="Calibri (MS)"/>
                <a:cs typeface="Calibri (MS)"/>
                <a:sym typeface="Calibri (MS)"/>
              </a:rPr>
              <a:t>System.out.print</a:t>
            </a:r>
            <a:r>
              <a:rPr lang="en-US" sz="1866" dirty="0">
                <a:solidFill>
                  <a:srgbClr val="002060"/>
                </a:solidFill>
                <a:latin typeface="Bell MT" panose="02020503060305020303" pitchFamily="18" charset="0"/>
                <a:ea typeface="Calibri (MS)"/>
                <a:cs typeface="Calibri (MS)"/>
                <a:sym typeface="Calibri (MS)"/>
              </a:rPr>
              <a:t>("Enter education expenditure: ₹"); </a:t>
            </a:r>
          </a:p>
          <a:p>
            <a:pPr>
              <a:lnSpc>
                <a:spcPts val="2239"/>
              </a:lnSpc>
            </a:pPr>
            <a:r>
              <a:rPr lang="en-US" sz="1866" dirty="0">
                <a:solidFill>
                  <a:srgbClr val="002060"/>
                </a:solidFill>
                <a:latin typeface="Bell MT" panose="02020503060305020303" pitchFamily="18" charset="0"/>
                <a:ea typeface="Calibri (MS)"/>
                <a:cs typeface="Calibri (MS)"/>
                <a:sym typeface="Calibri (MS)"/>
              </a:rPr>
              <a:t>double education = </a:t>
            </a:r>
            <a:r>
              <a:rPr lang="en-US" sz="1866" dirty="0" err="1">
                <a:solidFill>
                  <a:srgbClr val="002060"/>
                </a:solidFill>
                <a:latin typeface="Bell MT" panose="02020503060305020303" pitchFamily="18" charset="0"/>
                <a:ea typeface="Calibri (MS)"/>
                <a:cs typeface="Calibri (MS)"/>
                <a:sym typeface="Calibri (MS)"/>
              </a:rPr>
              <a:t>sc.nextDouble</a:t>
            </a:r>
            <a:r>
              <a:rPr lang="en-US" sz="1866" dirty="0">
                <a:solidFill>
                  <a:srgbClr val="002060"/>
                </a:solidFill>
                <a:latin typeface="Bell MT" panose="02020503060305020303" pitchFamily="18" charset="0"/>
                <a:ea typeface="Calibri (MS)"/>
                <a:cs typeface="Calibri (MS)"/>
                <a:sym typeface="Calibri (MS)"/>
              </a:rPr>
              <a:t>(); </a:t>
            </a:r>
          </a:p>
          <a:p>
            <a:pPr>
              <a:lnSpc>
                <a:spcPts val="2239"/>
              </a:lnSpc>
            </a:pPr>
            <a:r>
              <a:rPr lang="en-US" sz="1866" dirty="0" err="1">
                <a:solidFill>
                  <a:srgbClr val="002060"/>
                </a:solidFill>
                <a:latin typeface="Bell MT" panose="02020503060305020303" pitchFamily="18" charset="0"/>
                <a:ea typeface="Calibri (MS)"/>
                <a:cs typeface="Calibri (MS)"/>
                <a:sym typeface="Calibri (MS)"/>
              </a:rPr>
              <a:t>System.out.print</a:t>
            </a:r>
            <a:r>
              <a:rPr lang="en-US" sz="1866" dirty="0">
                <a:solidFill>
                  <a:srgbClr val="002060"/>
                </a:solidFill>
                <a:latin typeface="Bell MT" panose="02020503060305020303" pitchFamily="18" charset="0"/>
                <a:ea typeface="Calibri (MS)"/>
                <a:cs typeface="Calibri (MS)"/>
                <a:sym typeface="Calibri (MS)"/>
              </a:rPr>
              <a:t>("Enter transport expenditure: ₹");</a:t>
            </a:r>
          </a:p>
          <a:p>
            <a:pPr>
              <a:lnSpc>
                <a:spcPts val="2239"/>
              </a:lnSpc>
            </a:pPr>
            <a:r>
              <a:rPr lang="en-US" sz="1866" dirty="0">
                <a:solidFill>
                  <a:srgbClr val="002060"/>
                </a:solidFill>
                <a:latin typeface="Bell MT" panose="02020503060305020303" pitchFamily="18" charset="0"/>
                <a:ea typeface="Calibri (MS)"/>
                <a:cs typeface="Calibri (MS)"/>
                <a:sym typeface="Calibri (MS)"/>
              </a:rPr>
              <a:t> double transport = </a:t>
            </a:r>
            <a:r>
              <a:rPr lang="en-US" sz="1866" dirty="0" err="1">
                <a:solidFill>
                  <a:srgbClr val="002060"/>
                </a:solidFill>
                <a:latin typeface="Bell MT" panose="02020503060305020303" pitchFamily="18" charset="0"/>
                <a:ea typeface="Calibri (MS)"/>
                <a:cs typeface="Calibri (MS)"/>
                <a:sym typeface="Calibri (MS)"/>
              </a:rPr>
              <a:t>sc.nextDouble</a:t>
            </a:r>
            <a:r>
              <a:rPr lang="en-US" sz="1866" dirty="0">
                <a:solidFill>
                  <a:srgbClr val="002060"/>
                </a:solidFill>
                <a:latin typeface="Bell MT" panose="02020503060305020303" pitchFamily="18" charset="0"/>
                <a:ea typeface="Calibri (MS)"/>
                <a:cs typeface="Calibri (MS)"/>
                <a:sym typeface="Calibri (MS)"/>
              </a:rPr>
              <a:t>(); </a:t>
            </a:r>
          </a:p>
          <a:p>
            <a:pPr>
              <a:lnSpc>
                <a:spcPts val="2239"/>
              </a:lnSpc>
            </a:pPr>
            <a:r>
              <a:rPr lang="en-US" sz="1866" dirty="0" err="1">
                <a:solidFill>
                  <a:srgbClr val="002060"/>
                </a:solidFill>
                <a:latin typeface="Bell MT" panose="02020503060305020303" pitchFamily="18" charset="0"/>
                <a:ea typeface="Calibri (MS)"/>
                <a:cs typeface="Calibri (MS)"/>
                <a:sym typeface="Calibri (MS)"/>
              </a:rPr>
              <a:t>System.out.print</a:t>
            </a:r>
            <a:r>
              <a:rPr lang="en-US" sz="1866" dirty="0">
                <a:solidFill>
                  <a:srgbClr val="002060"/>
                </a:solidFill>
                <a:latin typeface="Bell MT" panose="02020503060305020303" pitchFamily="18" charset="0"/>
                <a:ea typeface="Calibri (MS)"/>
                <a:cs typeface="Calibri (MS)"/>
                <a:sym typeface="Calibri (MS)"/>
              </a:rPr>
              <a:t>("Enter medical expenditure: ₹"); </a:t>
            </a:r>
          </a:p>
          <a:p>
            <a:pPr>
              <a:lnSpc>
                <a:spcPts val="2239"/>
              </a:lnSpc>
            </a:pPr>
            <a:r>
              <a:rPr lang="en-US" sz="1866" dirty="0">
                <a:solidFill>
                  <a:srgbClr val="002060"/>
                </a:solidFill>
                <a:latin typeface="Bell MT" panose="02020503060305020303" pitchFamily="18" charset="0"/>
                <a:ea typeface="Calibri (MS)"/>
                <a:cs typeface="Calibri (MS)"/>
                <a:sym typeface="Calibri (MS)"/>
              </a:rPr>
              <a:t>double medical = </a:t>
            </a:r>
            <a:r>
              <a:rPr lang="en-US" sz="1866" dirty="0" err="1">
                <a:solidFill>
                  <a:srgbClr val="002060"/>
                </a:solidFill>
                <a:latin typeface="Bell MT" panose="02020503060305020303" pitchFamily="18" charset="0"/>
                <a:ea typeface="Calibri (MS)"/>
                <a:cs typeface="Calibri (MS)"/>
                <a:sym typeface="Calibri (MS)"/>
              </a:rPr>
              <a:t>sc.nextDouble</a:t>
            </a:r>
            <a:r>
              <a:rPr lang="en-US" sz="1866" dirty="0">
                <a:solidFill>
                  <a:srgbClr val="002060"/>
                </a:solidFill>
                <a:latin typeface="Bell MT" panose="02020503060305020303" pitchFamily="18" charset="0"/>
                <a:ea typeface="Calibri (MS)"/>
                <a:cs typeface="Calibri (MS)"/>
                <a:sym typeface="Calibri (MS)"/>
              </a:rPr>
              <a:t>();</a:t>
            </a:r>
          </a:p>
          <a:p>
            <a:pPr>
              <a:lnSpc>
                <a:spcPts val="2239"/>
              </a:lnSpc>
            </a:pPr>
            <a:r>
              <a:rPr lang="en-US" sz="1866" dirty="0">
                <a:solidFill>
                  <a:srgbClr val="002060"/>
                </a:solidFill>
                <a:latin typeface="Bell MT" panose="02020503060305020303" pitchFamily="18" charset="0"/>
                <a:ea typeface="Calibri (MS)"/>
                <a:cs typeface="Calibri (MS)"/>
                <a:sym typeface="Calibri (MS)"/>
              </a:rPr>
              <a:t> </a:t>
            </a:r>
            <a:r>
              <a:rPr lang="en-US" sz="1866" dirty="0" err="1">
                <a:solidFill>
                  <a:srgbClr val="002060"/>
                </a:solidFill>
                <a:latin typeface="Bell MT" panose="02020503060305020303" pitchFamily="18" charset="0"/>
                <a:ea typeface="Calibri (MS)"/>
                <a:cs typeface="Calibri (MS)"/>
                <a:sym typeface="Calibri (MS)"/>
              </a:rPr>
              <a:t>System.out.print</a:t>
            </a:r>
            <a:r>
              <a:rPr lang="en-US" sz="1866" dirty="0">
                <a:solidFill>
                  <a:srgbClr val="002060"/>
                </a:solidFill>
                <a:latin typeface="Bell MT" panose="02020503060305020303" pitchFamily="18" charset="0"/>
                <a:ea typeface="Calibri (MS)"/>
                <a:cs typeface="Calibri (MS)"/>
                <a:sym typeface="Calibri (MS)"/>
              </a:rPr>
              <a:t>("Enter other expenditure: ₹"); </a:t>
            </a:r>
          </a:p>
          <a:p>
            <a:pPr>
              <a:lnSpc>
                <a:spcPts val="2239"/>
              </a:lnSpc>
            </a:pPr>
            <a:r>
              <a:rPr lang="en-US" sz="1866" dirty="0">
                <a:solidFill>
                  <a:srgbClr val="002060"/>
                </a:solidFill>
                <a:latin typeface="Bell MT" panose="02020503060305020303" pitchFamily="18" charset="0"/>
                <a:ea typeface="Calibri (MS)"/>
                <a:cs typeface="Calibri (MS)"/>
                <a:sym typeface="Calibri (MS)"/>
              </a:rPr>
              <a:t>double other = </a:t>
            </a:r>
            <a:r>
              <a:rPr lang="en-US" sz="1866" dirty="0" err="1">
                <a:solidFill>
                  <a:srgbClr val="002060"/>
                </a:solidFill>
                <a:latin typeface="Bell MT" panose="02020503060305020303" pitchFamily="18" charset="0"/>
                <a:ea typeface="Calibri (MS)"/>
                <a:cs typeface="Calibri (MS)"/>
                <a:sym typeface="Calibri (MS)"/>
              </a:rPr>
              <a:t>sc.nextDouble</a:t>
            </a:r>
            <a:r>
              <a:rPr lang="en-US" sz="1866" dirty="0">
                <a:solidFill>
                  <a:srgbClr val="002060"/>
                </a:solidFill>
                <a:latin typeface="Bell MT" panose="02020503060305020303" pitchFamily="18" charset="0"/>
                <a:ea typeface="Calibri (MS)"/>
                <a:cs typeface="Calibri (MS)"/>
                <a:sym typeface="Calibri (MS)"/>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 name="TextBox 3"/>
          <p:cNvSpPr txBox="1"/>
          <p:nvPr/>
        </p:nvSpPr>
        <p:spPr>
          <a:xfrm>
            <a:off x="314960" y="163830"/>
            <a:ext cx="8270240" cy="6488956"/>
          </a:xfrm>
          <a:prstGeom prst="rect">
            <a:avLst/>
          </a:prstGeom>
        </p:spPr>
        <p:txBody>
          <a:bodyPr wrap="square" lIns="0" tIns="0" rIns="0" bIns="0" rtlCol="0" anchor="t">
            <a:spAutoFit/>
          </a:bodyPr>
          <a:lstStyle/>
          <a:p>
            <a:pPr>
              <a:lnSpc>
                <a:spcPts val="2239"/>
              </a:lnSpc>
            </a:pPr>
            <a:r>
              <a:rPr lang="en-US" sz="1866" dirty="0">
                <a:solidFill>
                  <a:srgbClr val="953735"/>
                </a:solidFill>
                <a:latin typeface="Bell MT" panose="02020503060305020303" pitchFamily="18" charset="0"/>
                <a:ea typeface="Calibri (MS)"/>
                <a:cs typeface="Calibri (MS)"/>
                <a:sym typeface="Calibri (MS)"/>
              </a:rPr>
              <a:t> </a:t>
            </a:r>
            <a:r>
              <a:rPr lang="en-US" sz="1866" dirty="0">
                <a:solidFill>
                  <a:srgbClr val="002060"/>
                </a:solidFill>
                <a:latin typeface="Bell MT" panose="02020503060305020303" pitchFamily="18" charset="0"/>
                <a:ea typeface="Calibri (MS)"/>
                <a:cs typeface="Calibri (MS)"/>
                <a:sym typeface="Calibri (MS)"/>
              </a:rPr>
              <a:t>// Calculate total expenditure</a:t>
            </a:r>
          </a:p>
          <a:p>
            <a:pPr>
              <a:lnSpc>
                <a:spcPts val="2239"/>
              </a:lnSpc>
            </a:pPr>
            <a:r>
              <a:rPr lang="en-US" sz="1866" dirty="0">
                <a:solidFill>
                  <a:srgbClr val="002060"/>
                </a:solidFill>
                <a:latin typeface="Bell MT" panose="02020503060305020303" pitchFamily="18" charset="0"/>
                <a:ea typeface="Calibri (MS)"/>
                <a:cs typeface="Calibri (MS)"/>
                <a:sym typeface="Calibri (MS)"/>
              </a:rPr>
              <a:t>        double </a:t>
            </a:r>
            <a:r>
              <a:rPr lang="en-US" sz="1866" dirty="0" err="1">
                <a:solidFill>
                  <a:srgbClr val="002060"/>
                </a:solidFill>
                <a:latin typeface="Bell MT" panose="02020503060305020303" pitchFamily="18" charset="0"/>
                <a:ea typeface="Calibri (MS)"/>
                <a:cs typeface="Calibri (MS)"/>
                <a:sym typeface="Calibri (MS)"/>
              </a:rPr>
              <a:t>totalExpenditure</a:t>
            </a:r>
            <a:r>
              <a:rPr lang="en-US" sz="1866" dirty="0">
                <a:solidFill>
                  <a:srgbClr val="002060"/>
                </a:solidFill>
                <a:latin typeface="Bell MT" panose="02020503060305020303" pitchFamily="18" charset="0"/>
                <a:ea typeface="Calibri (MS)"/>
                <a:cs typeface="Calibri (MS)"/>
                <a:sym typeface="Calibri (MS)"/>
              </a:rPr>
              <a:t> = food + rent + education</a:t>
            </a:r>
          </a:p>
          <a:p>
            <a:pPr>
              <a:lnSpc>
                <a:spcPts val="2239"/>
              </a:lnSpc>
            </a:pPr>
            <a:r>
              <a:rPr lang="en-US" sz="1866" dirty="0">
                <a:solidFill>
                  <a:srgbClr val="002060"/>
                </a:solidFill>
                <a:latin typeface="Bell MT" panose="02020503060305020303" pitchFamily="18" charset="0"/>
                <a:ea typeface="Calibri (MS)"/>
                <a:cs typeface="Calibri (MS)"/>
                <a:sym typeface="Calibri (MS)"/>
              </a:rPr>
              <a:t>                                + transport + medical + other;</a:t>
            </a:r>
          </a:p>
          <a:p>
            <a:pPr>
              <a:lnSpc>
                <a:spcPts val="2239"/>
              </a:lnSpc>
            </a:pPr>
            <a:endParaRPr lang="en-US" sz="1866" dirty="0">
              <a:solidFill>
                <a:srgbClr val="002060"/>
              </a:solidFill>
              <a:latin typeface="Bell MT" panose="02020503060305020303" pitchFamily="18" charset="0"/>
              <a:ea typeface="Calibri (MS)"/>
              <a:cs typeface="Calibri (MS)"/>
              <a:sym typeface="Calibri (MS)"/>
            </a:endParaRPr>
          </a:p>
          <a:p>
            <a:pPr>
              <a:lnSpc>
                <a:spcPts val="2239"/>
              </a:lnSpc>
            </a:pPr>
            <a:r>
              <a:rPr lang="en-US" sz="1866" dirty="0">
                <a:solidFill>
                  <a:srgbClr val="002060"/>
                </a:solidFill>
                <a:latin typeface="Bell MT" panose="02020503060305020303" pitchFamily="18" charset="0"/>
                <a:ea typeface="Calibri (MS)"/>
                <a:cs typeface="Calibri (MS)"/>
                <a:sym typeface="Calibri (MS)"/>
              </a:rPr>
              <a:t>        // Calculate savings</a:t>
            </a:r>
          </a:p>
          <a:p>
            <a:pPr>
              <a:lnSpc>
                <a:spcPts val="2239"/>
              </a:lnSpc>
            </a:pPr>
            <a:r>
              <a:rPr lang="en-US" sz="1866" dirty="0">
                <a:solidFill>
                  <a:srgbClr val="002060"/>
                </a:solidFill>
                <a:latin typeface="Bell MT" panose="02020503060305020303" pitchFamily="18" charset="0"/>
                <a:ea typeface="Calibri (MS)"/>
                <a:cs typeface="Calibri (MS)"/>
                <a:sym typeface="Calibri (MS)"/>
              </a:rPr>
              <a:t>        double </a:t>
            </a:r>
            <a:r>
              <a:rPr lang="en-US" sz="1866" dirty="0" err="1">
                <a:solidFill>
                  <a:srgbClr val="002060"/>
                </a:solidFill>
                <a:latin typeface="Bell MT" panose="02020503060305020303" pitchFamily="18" charset="0"/>
                <a:ea typeface="Calibri (MS)"/>
                <a:cs typeface="Calibri (MS)"/>
                <a:sym typeface="Calibri (MS)"/>
              </a:rPr>
              <a:t>monthlySavings</a:t>
            </a:r>
            <a:r>
              <a:rPr lang="en-US" sz="1866" dirty="0">
                <a:solidFill>
                  <a:srgbClr val="002060"/>
                </a:solidFill>
                <a:latin typeface="Bell MT" panose="02020503060305020303" pitchFamily="18" charset="0"/>
                <a:ea typeface="Calibri (MS)"/>
                <a:cs typeface="Calibri (MS)"/>
                <a:sym typeface="Calibri (MS)"/>
              </a:rPr>
              <a:t> = income - </a:t>
            </a:r>
            <a:r>
              <a:rPr lang="en-US" sz="1866" dirty="0" err="1">
                <a:solidFill>
                  <a:srgbClr val="002060"/>
                </a:solidFill>
                <a:latin typeface="Bell MT" panose="02020503060305020303" pitchFamily="18" charset="0"/>
                <a:ea typeface="Calibri (MS)"/>
                <a:cs typeface="Calibri (MS)"/>
                <a:sym typeface="Calibri (MS)"/>
              </a:rPr>
              <a:t>totalExpenditure</a:t>
            </a:r>
            <a:r>
              <a:rPr lang="en-US" sz="1866" dirty="0">
                <a:solidFill>
                  <a:srgbClr val="002060"/>
                </a:solidFill>
                <a:latin typeface="Bell MT" panose="02020503060305020303" pitchFamily="18" charset="0"/>
                <a:ea typeface="Calibri (MS)"/>
                <a:cs typeface="Calibri (MS)"/>
                <a:sym typeface="Calibri (MS)"/>
              </a:rPr>
              <a:t>;</a:t>
            </a:r>
          </a:p>
          <a:p>
            <a:pPr>
              <a:lnSpc>
                <a:spcPts val="2239"/>
              </a:lnSpc>
            </a:pPr>
            <a:endParaRPr lang="en-US" sz="1866" dirty="0">
              <a:solidFill>
                <a:srgbClr val="002060"/>
              </a:solidFill>
              <a:latin typeface="Bell MT" panose="02020503060305020303" pitchFamily="18" charset="0"/>
              <a:ea typeface="Calibri (MS)"/>
              <a:cs typeface="Calibri (MS)"/>
              <a:sym typeface="Calibri (MS)"/>
            </a:endParaRPr>
          </a:p>
          <a:p>
            <a:pPr>
              <a:lnSpc>
                <a:spcPts val="2239"/>
              </a:lnSpc>
            </a:pPr>
            <a:r>
              <a:rPr lang="en-US" sz="1866" dirty="0">
                <a:solidFill>
                  <a:srgbClr val="002060"/>
                </a:solidFill>
                <a:latin typeface="Bell MT" panose="02020503060305020303" pitchFamily="18" charset="0"/>
                <a:ea typeface="Calibri (MS)"/>
                <a:cs typeface="Calibri (MS)"/>
                <a:sym typeface="Calibri (MS)"/>
              </a:rPr>
              <a:t>        // Expenditure per person</a:t>
            </a:r>
          </a:p>
          <a:p>
            <a:pPr>
              <a:lnSpc>
                <a:spcPts val="2239"/>
              </a:lnSpc>
            </a:pPr>
            <a:r>
              <a:rPr lang="en-US" sz="1866" dirty="0">
                <a:solidFill>
                  <a:srgbClr val="002060"/>
                </a:solidFill>
                <a:latin typeface="Bell MT" panose="02020503060305020303" pitchFamily="18" charset="0"/>
                <a:ea typeface="Calibri (MS)"/>
                <a:cs typeface="Calibri (MS)"/>
                <a:sym typeface="Calibri (MS)"/>
              </a:rPr>
              <a:t>        double </a:t>
            </a:r>
            <a:r>
              <a:rPr lang="en-US" sz="1866" dirty="0" err="1">
                <a:solidFill>
                  <a:srgbClr val="002060"/>
                </a:solidFill>
                <a:latin typeface="Bell MT" panose="02020503060305020303" pitchFamily="18" charset="0"/>
                <a:ea typeface="Calibri (MS)"/>
                <a:cs typeface="Calibri (MS)"/>
                <a:sym typeface="Calibri (MS)"/>
              </a:rPr>
              <a:t>expenditurePerPerson</a:t>
            </a:r>
            <a:r>
              <a:rPr lang="en-US" sz="1866" dirty="0">
                <a:solidFill>
                  <a:srgbClr val="002060"/>
                </a:solidFill>
                <a:latin typeface="Bell MT" panose="02020503060305020303" pitchFamily="18" charset="0"/>
                <a:ea typeface="Calibri (MS)"/>
                <a:cs typeface="Calibri (MS)"/>
                <a:sym typeface="Calibri (MS)"/>
              </a:rPr>
              <a:t> =</a:t>
            </a:r>
          </a:p>
          <a:p>
            <a:pPr>
              <a:lnSpc>
                <a:spcPts val="2239"/>
              </a:lnSpc>
            </a:pPr>
            <a:r>
              <a:rPr lang="en-US" sz="1866" dirty="0">
                <a:solidFill>
                  <a:srgbClr val="002060"/>
                </a:solidFill>
                <a:latin typeface="Bell MT" panose="02020503060305020303" pitchFamily="18" charset="0"/>
                <a:ea typeface="Calibri (MS)"/>
                <a:cs typeface="Calibri (MS)"/>
                <a:sym typeface="Calibri (MS)"/>
              </a:rPr>
              <a:t>                </a:t>
            </a:r>
            <a:r>
              <a:rPr lang="en-US" sz="1866" dirty="0" err="1">
                <a:solidFill>
                  <a:srgbClr val="002060"/>
                </a:solidFill>
                <a:latin typeface="Bell MT" panose="02020503060305020303" pitchFamily="18" charset="0"/>
                <a:ea typeface="Calibri (MS)"/>
                <a:cs typeface="Calibri (MS)"/>
                <a:sym typeface="Calibri (MS)"/>
              </a:rPr>
              <a:t>totalExpenditure</a:t>
            </a:r>
            <a:r>
              <a:rPr lang="en-US" sz="1866" dirty="0">
                <a:solidFill>
                  <a:srgbClr val="002060"/>
                </a:solidFill>
                <a:latin typeface="Bell MT" panose="02020503060305020303" pitchFamily="18" charset="0"/>
                <a:ea typeface="Calibri (MS)"/>
                <a:cs typeface="Calibri (MS)"/>
                <a:sym typeface="Calibri (MS)"/>
              </a:rPr>
              <a:t> / </a:t>
            </a:r>
            <a:r>
              <a:rPr lang="en-US" sz="1866" dirty="0" err="1">
                <a:solidFill>
                  <a:srgbClr val="002060"/>
                </a:solidFill>
                <a:latin typeface="Bell MT" panose="02020503060305020303" pitchFamily="18" charset="0"/>
                <a:ea typeface="Calibri (MS)"/>
                <a:cs typeface="Calibri (MS)"/>
                <a:sym typeface="Calibri (MS)"/>
              </a:rPr>
              <a:t>familyMembers</a:t>
            </a:r>
            <a:r>
              <a:rPr lang="en-US" sz="1866" dirty="0">
                <a:solidFill>
                  <a:srgbClr val="002060"/>
                </a:solidFill>
                <a:latin typeface="Bell MT" panose="02020503060305020303" pitchFamily="18" charset="0"/>
                <a:ea typeface="Calibri (MS)"/>
                <a:cs typeface="Calibri (MS)"/>
                <a:sym typeface="Calibri (MS)"/>
              </a:rPr>
              <a:t>;</a:t>
            </a:r>
          </a:p>
          <a:p>
            <a:pPr>
              <a:lnSpc>
                <a:spcPts val="2239"/>
              </a:lnSpc>
            </a:pPr>
            <a:endParaRPr lang="en-US" sz="1866" dirty="0">
              <a:solidFill>
                <a:srgbClr val="002060"/>
              </a:solidFill>
              <a:latin typeface="Bell MT" panose="02020503060305020303" pitchFamily="18" charset="0"/>
              <a:ea typeface="Calibri (MS)"/>
              <a:cs typeface="Calibri (MS)"/>
              <a:sym typeface="Calibri (MS)"/>
            </a:endParaRPr>
          </a:p>
          <a:p>
            <a:pPr>
              <a:lnSpc>
                <a:spcPts val="2239"/>
              </a:lnSpc>
            </a:pPr>
            <a:r>
              <a:rPr lang="en-US" sz="1866" dirty="0">
                <a:solidFill>
                  <a:srgbClr val="002060"/>
                </a:solidFill>
                <a:latin typeface="Bell MT" panose="02020503060305020303" pitchFamily="18" charset="0"/>
                <a:ea typeface="Calibri (MS)"/>
                <a:cs typeface="Calibri (MS)"/>
                <a:sym typeface="Calibri (MS)"/>
              </a:rPr>
              <a:t>        // Savings percentage</a:t>
            </a:r>
          </a:p>
          <a:p>
            <a:pPr>
              <a:lnSpc>
                <a:spcPts val="2239"/>
              </a:lnSpc>
            </a:pPr>
            <a:r>
              <a:rPr lang="en-US" sz="1866" dirty="0">
                <a:solidFill>
                  <a:srgbClr val="002060"/>
                </a:solidFill>
                <a:latin typeface="Bell MT" panose="02020503060305020303" pitchFamily="18" charset="0"/>
                <a:ea typeface="Calibri (MS)"/>
                <a:cs typeface="Calibri (MS)"/>
                <a:sym typeface="Calibri (MS)"/>
              </a:rPr>
              <a:t>        double </a:t>
            </a:r>
            <a:r>
              <a:rPr lang="en-US" sz="1866" dirty="0" err="1">
                <a:solidFill>
                  <a:srgbClr val="002060"/>
                </a:solidFill>
                <a:latin typeface="Bell MT" panose="02020503060305020303" pitchFamily="18" charset="0"/>
                <a:ea typeface="Calibri (MS)"/>
                <a:cs typeface="Calibri (MS)"/>
                <a:sym typeface="Calibri (MS)"/>
              </a:rPr>
              <a:t>savingsPercentage</a:t>
            </a:r>
            <a:r>
              <a:rPr lang="en-US" sz="1866" dirty="0">
                <a:solidFill>
                  <a:srgbClr val="002060"/>
                </a:solidFill>
                <a:latin typeface="Bell MT" panose="02020503060305020303" pitchFamily="18" charset="0"/>
                <a:ea typeface="Calibri (MS)"/>
                <a:cs typeface="Calibri (MS)"/>
                <a:sym typeface="Calibri (MS)"/>
              </a:rPr>
              <a:t> =</a:t>
            </a:r>
          </a:p>
          <a:p>
            <a:pPr>
              <a:lnSpc>
                <a:spcPts val="2239"/>
              </a:lnSpc>
            </a:pPr>
            <a:r>
              <a:rPr lang="en-US" sz="1866" dirty="0">
                <a:solidFill>
                  <a:srgbClr val="002060"/>
                </a:solidFill>
                <a:latin typeface="Bell MT" panose="02020503060305020303" pitchFamily="18" charset="0"/>
                <a:ea typeface="Calibri (MS)"/>
                <a:cs typeface="Calibri (MS)"/>
                <a:sym typeface="Calibri (MS)"/>
              </a:rPr>
              <a:t>                (</a:t>
            </a:r>
            <a:r>
              <a:rPr lang="en-US" sz="1866" dirty="0" err="1">
                <a:solidFill>
                  <a:srgbClr val="002060"/>
                </a:solidFill>
                <a:latin typeface="Bell MT" panose="02020503060305020303" pitchFamily="18" charset="0"/>
                <a:ea typeface="Calibri (MS)"/>
                <a:cs typeface="Calibri (MS)"/>
                <a:sym typeface="Calibri (MS)"/>
              </a:rPr>
              <a:t>monthlySavings</a:t>
            </a:r>
            <a:r>
              <a:rPr lang="en-US" sz="1866" dirty="0">
                <a:solidFill>
                  <a:srgbClr val="002060"/>
                </a:solidFill>
                <a:latin typeface="Bell MT" panose="02020503060305020303" pitchFamily="18" charset="0"/>
                <a:ea typeface="Calibri (MS)"/>
                <a:cs typeface="Calibri (MS)"/>
                <a:sym typeface="Calibri (MS)"/>
              </a:rPr>
              <a:t> / income) * 100;</a:t>
            </a:r>
          </a:p>
          <a:p>
            <a:pPr>
              <a:lnSpc>
                <a:spcPts val="2239"/>
              </a:lnSpc>
            </a:pPr>
            <a:endParaRPr lang="en-US" sz="1866" dirty="0">
              <a:solidFill>
                <a:srgbClr val="002060"/>
              </a:solidFill>
              <a:latin typeface="Bell MT" panose="02020503060305020303" pitchFamily="18" charset="0"/>
              <a:ea typeface="Calibri (MS)"/>
              <a:cs typeface="Calibri (MS)"/>
              <a:sym typeface="Calibri (MS)"/>
            </a:endParaRPr>
          </a:p>
          <a:p>
            <a:pPr>
              <a:lnSpc>
                <a:spcPts val="2239"/>
              </a:lnSpc>
            </a:pPr>
            <a:r>
              <a:rPr lang="en-US" sz="1866" dirty="0">
                <a:solidFill>
                  <a:srgbClr val="002060"/>
                </a:solidFill>
                <a:latin typeface="Bell MT" panose="02020503060305020303" pitchFamily="18" charset="0"/>
                <a:ea typeface="Calibri (MS)"/>
                <a:cs typeface="Calibri (MS)"/>
                <a:sym typeface="Calibri (MS)"/>
              </a:rPr>
              <a:t>        //  Report</a:t>
            </a:r>
          </a:p>
          <a:p>
            <a:pPr>
              <a:lnSpc>
                <a:spcPts val="2239"/>
              </a:lnSpc>
            </a:pPr>
            <a:r>
              <a:rPr lang="en-US" sz="1866" dirty="0">
                <a:solidFill>
                  <a:srgbClr val="002060"/>
                </a:solidFill>
                <a:latin typeface="Bell MT" panose="02020503060305020303" pitchFamily="18" charset="0"/>
                <a:ea typeface="Calibri (MS)"/>
                <a:cs typeface="Calibri (MS)"/>
                <a:sym typeface="Calibri (MS)"/>
              </a:rPr>
              <a:t>        </a:t>
            </a:r>
            <a:r>
              <a:rPr lang="en-US" sz="1866" dirty="0" err="1">
                <a:solidFill>
                  <a:srgbClr val="002060"/>
                </a:solidFill>
                <a:latin typeface="Bell MT" panose="02020503060305020303" pitchFamily="18" charset="0"/>
                <a:ea typeface="Calibri (MS)"/>
                <a:cs typeface="Calibri (MS)"/>
                <a:sym typeface="Calibri (MS)"/>
              </a:rPr>
              <a:t>System.out.println</a:t>
            </a:r>
            <a:r>
              <a:rPr lang="en-US" sz="1866" dirty="0">
                <a:solidFill>
                  <a:srgbClr val="002060"/>
                </a:solidFill>
                <a:latin typeface="Bell MT" panose="02020503060305020303" pitchFamily="18" charset="0"/>
                <a:ea typeface="Calibri (MS)"/>
                <a:cs typeface="Calibri (MS)"/>
                <a:sym typeface="Calibri (MS)"/>
              </a:rPr>
              <a:t>(" MONTHLY EXPENSE REPORT ");</a:t>
            </a:r>
          </a:p>
          <a:p>
            <a:pPr>
              <a:lnSpc>
                <a:spcPts val="2239"/>
              </a:lnSpc>
            </a:pPr>
            <a:endParaRPr lang="en-US" sz="1866" dirty="0">
              <a:solidFill>
                <a:srgbClr val="002060"/>
              </a:solidFill>
              <a:latin typeface="Bell MT" panose="02020503060305020303" pitchFamily="18" charset="0"/>
              <a:ea typeface="Calibri (MS)"/>
              <a:cs typeface="Calibri (MS)"/>
              <a:sym typeface="Calibri (MS)"/>
            </a:endParaRPr>
          </a:p>
          <a:p>
            <a:pPr>
              <a:lnSpc>
                <a:spcPts val="2239"/>
              </a:lnSpc>
            </a:pPr>
            <a:r>
              <a:rPr lang="en-US" sz="1866" dirty="0">
                <a:solidFill>
                  <a:srgbClr val="002060"/>
                </a:solidFill>
                <a:latin typeface="Bell MT" panose="02020503060305020303" pitchFamily="18" charset="0"/>
                <a:ea typeface="Calibri (MS)"/>
                <a:cs typeface="Calibri (MS)"/>
                <a:sym typeface="Calibri (MS)"/>
              </a:rPr>
              <a:t>        </a:t>
            </a:r>
            <a:r>
              <a:rPr lang="en-US" sz="1866" dirty="0" err="1">
                <a:solidFill>
                  <a:srgbClr val="002060"/>
                </a:solidFill>
                <a:latin typeface="Bell MT" panose="02020503060305020303" pitchFamily="18" charset="0"/>
                <a:ea typeface="Calibri (MS)"/>
                <a:cs typeface="Calibri (MS)"/>
                <a:sym typeface="Calibri (MS)"/>
              </a:rPr>
              <a:t>System.out.println</a:t>
            </a:r>
            <a:r>
              <a:rPr lang="en-US" sz="1866" dirty="0">
                <a:solidFill>
                  <a:srgbClr val="002060"/>
                </a:solidFill>
                <a:latin typeface="Bell MT" panose="02020503060305020303" pitchFamily="18" charset="0"/>
                <a:ea typeface="Calibri (MS)"/>
                <a:cs typeface="Calibri (MS)"/>
                <a:sym typeface="Calibri (MS)"/>
              </a:rPr>
              <a:t>("Family Members: " + </a:t>
            </a:r>
            <a:r>
              <a:rPr lang="en-US" sz="1866" dirty="0" err="1">
                <a:solidFill>
                  <a:srgbClr val="002060"/>
                </a:solidFill>
                <a:latin typeface="Bell MT" panose="02020503060305020303" pitchFamily="18" charset="0"/>
                <a:ea typeface="Calibri (MS)"/>
                <a:cs typeface="Calibri (MS)"/>
                <a:sym typeface="Calibri (MS)"/>
              </a:rPr>
              <a:t>familyMembers</a:t>
            </a:r>
            <a:r>
              <a:rPr lang="en-US" sz="1866" dirty="0">
                <a:solidFill>
                  <a:srgbClr val="002060"/>
                </a:solidFill>
                <a:latin typeface="Bell MT" panose="02020503060305020303" pitchFamily="18" charset="0"/>
                <a:ea typeface="Calibri (MS)"/>
                <a:cs typeface="Calibri (MS)"/>
                <a:sym typeface="Calibri (MS)"/>
              </a:rPr>
              <a:t>);</a:t>
            </a:r>
          </a:p>
          <a:p>
            <a:pPr>
              <a:lnSpc>
                <a:spcPts val="2239"/>
              </a:lnSpc>
            </a:pPr>
            <a:r>
              <a:rPr lang="en-US" sz="1866" dirty="0">
                <a:solidFill>
                  <a:srgbClr val="002060"/>
                </a:solidFill>
                <a:latin typeface="Bell MT" panose="02020503060305020303" pitchFamily="18" charset="0"/>
                <a:ea typeface="Calibri (MS)"/>
                <a:cs typeface="Calibri (MS)"/>
                <a:sym typeface="Calibri (MS)"/>
              </a:rPr>
              <a:t>        </a:t>
            </a:r>
            <a:r>
              <a:rPr lang="en-US" sz="1866" dirty="0" err="1">
                <a:solidFill>
                  <a:srgbClr val="002060"/>
                </a:solidFill>
                <a:latin typeface="Bell MT" panose="02020503060305020303" pitchFamily="18" charset="0"/>
                <a:ea typeface="Calibri (MS)"/>
                <a:cs typeface="Calibri (MS)"/>
                <a:sym typeface="Calibri (MS)"/>
              </a:rPr>
              <a:t>System.out.println</a:t>
            </a:r>
            <a:r>
              <a:rPr lang="en-US" sz="1866" dirty="0">
                <a:solidFill>
                  <a:srgbClr val="002060"/>
                </a:solidFill>
                <a:latin typeface="Bell MT" panose="02020503060305020303" pitchFamily="18" charset="0"/>
                <a:ea typeface="Calibri (MS)"/>
                <a:cs typeface="Calibri (MS)"/>
                <a:sym typeface="Calibri (MS)"/>
              </a:rPr>
              <a:t>("Monthly Income: ₹" + income);</a:t>
            </a:r>
          </a:p>
          <a:p>
            <a:pPr>
              <a:lnSpc>
                <a:spcPts val="2239"/>
              </a:lnSpc>
            </a:pPr>
            <a:r>
              <a:rPr lang="en-US" sz="1866" dirty="0">
                <a:solidFill>
                  <a:srgbClr val="002060"/>
                </a:solidFill>
                <a:latin typeface="Bell MT" panose="02020503060305020303" pitchFamily="18" charset="0"/>
                <a:ea typeface="Calibri (MS)"/>
                <a:cs typeface="Calibri (MS)"/>
                <a:sym typeface="Calibri (MS)"/>
              </a:rPr>
              <a:t>        </a:t>
            </a:r>
            <a:r>
              <a:rPr lang="en-US" sz="1866" dirty="0" err="1">
                <a:solidFill>
                  <a:srgbClr val="002060"/>
                </a:solidFill>
                <a:latin typeface="Bell MT" panose="02020503060305020303" pitchFamily="18" charset="0"/>
                <a:ea typeface="Calibri (MS)"/>
                <a:cs typeface="Calibri (MS)"/>
                <a:sym typeface="Calibri (MS)"/>
              </a:rPr>
              <a:t>System.out.println</a:t>
            </a:r>
            <a:r>
              <a:rPr lang="en-US" sz="1866" dirty="0">
                <a:solidFill>
                  <a:srgbClr val="002060"/>
                </a:solidFill>
                <a:latin typeface="Bell MT" panose="02020503060305020303" pitchFamily="18" charset="0"/>
                <a:ea typeface="Calibri (MS)"/>
                <a:cs typeface="Calibri (MS)"/>
                <a:sym typeface="Calibri (MS)"/>
              </a:rPr>
              <a:t>("Monthly Budget: ₹" + budget);</a:t>
            </a:r>
          </a:p>
          <a:p>
            <a:pPr>
              <a:lnSpc>
                <a:spcPts val="2239"/>
              </a:lnSpc>
            </a:pPr>
            <a:endParaRPr lang="en-US" sz="1866" dirty="0">
              <a:solidFill>
                <a:srgbClr val="002060"/>
              </a:solidFill>
              <a:latin typeface="Bell MT" panose="02020503060305020303" pitchFamily="18" charset="0"/>
              <a:ea typeface="Calibri (MS)"/>
              <a:cs typeface="Calibri (MS)"/>
              <a:sym typeface="Calibri (MS)"/>
            </a:endParaRPr>
          </a:p>
          <a:p>
            <a:pPr>
              <a:lnSpc>
                <a:spcPts val="2239"/>
              </a:lnSpc>
            </a:pPr>
            <a:endParaRPr lang="en-US" sz="1866" dirty="0">
              <a:solidFill>
                <a:srgbClr val="953735"/>
              </a:solidFill>
              <a:latin typeface="Bell MT" panose="02020503060305020303" pitchFamily="18" charset="0"/>
              <a:ea typeface="Calibri (MS)"/>
              <a:cs typeface="Calibri (MS)"/>
              <a:sym typeface="Calibri (M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 name="TextBox 3"/>
          <p:cNvSpPr txBox="1"/>
          <p:nvPr/>
        </p:nvSpPr>
        <p:spPr>
          <a:xfrm>
            <a:off x="121920" y="76200"/>
            <a:ext cx="9123680" cy="5612498"/>
          </a:xfrm>
          <a:prstGeom prst="rect">
            <a:avLst/>
          </a:prstGeom>
        </p:spPr>
        <p:txBody>
          <a:bodyPr wrap="square" lIns="0" tIns="0" rIns="0" bIns="0" rtlCol="0" anchor="t">
            <a:spAutoFit/>
          </a:bodyPr>
          <a:lstStyle/>
          <a:p>
            <a:pPr>
              <a:lnSpc>
                <a:spcPts val="1919"/>
              </a:lnSpc>
            </a:pPr>
            <a:r>
              <a:rPr lang="en-US" sz="1867" dirty="0">
                <a:solidFill>
                  <a:srgbClr val="002060"/>
                </a:solidFill>
                <a:latin typeface="Bell MT" panose="02020503060305020303" pitchFamily="18" charset="0"/>
                <a:ea typeface="Calibri (MS)"/>
                <a:cs typeface="Calibri (MS)"/>
                <a:sym typeface="Calibri (MS)"/>
              </a:rPr>
              <a:t> </a:t>
            </a:r>
            <a:r>
              <a:rPr lang="en-US" sz="1867" dirty="0" err="1">
                <a:solidFill>
                  <a:srgbClr val="002060"/>
                </a:solidFill>
                <a:latin typeface="Bell MT" panose="02020503060305020303" pitchFamily="18" charset="0"/>
                <a:ea typeface="Calibri (MS)"/>
                <a:cs typeface="Calibri (MS)"/>
                <a:sym typeface="Calibri (MS)"/>
              </a:rPr>
              <a:t>System.out.println</a:t>
            </a:r>
            <a:r>
              <a:rPr lang="en-US" sz="1867" dirty="0">
                <a:solidFill>
                  <a:srgbClr val="002060"/>
                </a:solidFill>
                <a:latin typeface="Bell MT" panose="02020503060305020303" pitchFamily="18" charset="0"/>
                <a:ea typeface="Calibri (MS)"/>
                <a:cs typeface="Calibri (MS)"/>
                <a:sym typeface="Calibri (MS)"/>
              </a:rPr>
              <a:t>("\</a:t>
            </a:r>
            <a:r>
              <a:rPr lang="en-US" sz="1867" dirty="0" err="1">
                <a:solidFill>
                  <a:srgbClr val="002060"/>
                </a:solidFill>
                <a:latin typeface="Bell MT" panose="02020503060305020303" pitchFamily="18" charset="0"/>
                <a:ea typeface="Calibri (MS)"/>
                <a:cs typeface="Calibri (MS)"/>
                <a:sym typeface="Calibri (MS)"/>
              </a:rPr>
              <a:t>nTotal</a:t>
            </a:r>
            <a:r>
              <a:rPr lang="en-US" sz="1867" dirty="0">
                <a:solidFill>
                  <a:srgbClr val="002060"/>
                </a:solidFill>
                <a:latin typeface="Bell MT" panose="02020503060305020303" pitchFamily="18" charset="0"/>
                <a:ea typeface="Calibri (MS)"/>
                <a:cs typeface="Calibri (MS)"/>
                <a:sym typeface="Calibri (MS)"/>
              </a:rPr>
              <a:t> Expenditure: ₹" + </a:t>
            </a:r>
            <a:r>
              <a:rPr lang="en-US" sz="1867" dirty="0" err="1">
                <a:solidFill>
                  <a:srgbClr val="002060"/>
                </a:solidFill>
                <a:latin typeface="Bell MT" panose="02020503060305020303" pitchFamily="18" charset="0"/>
                <a:ea typeface="Calibri (MS)"/>
                <a:cs typeface="Calibri (MS)"/>
                <a:sym typeface="Calibri (MS)"/>
              </a:rPr>
              <a:t>totalExpenditure</a:t>
            </a:r>
            <a:r>
              <a:rPr lang="en-US" sz="1867" dirty="0">
                <a:solidFill>
                  <a:srgbClr val="002060"/>
                </a:solidFill>
                <a:latin typeface="Bell MT" panose="02020503060305020303" pitchFamily="18" charset="0"/>
                <a:ea typeface="Calibri (MS)"/>
                <a:cs typeface="Calibri (MS)"/>
                <a:sym typeface="Calibri (MS)"/>
              </a:rPr>
              <a:t>);</a:t>
            </a:r>
          </a:p>
          <a:p>
            <a:pPr>
              <a:lnSpc>
                <a:spcPts val="1919"/>
              </a:lnSpc>
            </a:pPr>
            <a:r>
              <a:rPr lang="en-US" sz="1867" dirty="0">
                <a:solidFill>
                  <a:srgbClr val="002060"/>
                </a:solidFill>
                <a:latin typeface="Bell MT" panose="02020503060305020303" pitchFamily="18" charset="0"/>
                <a:ea typeface="Calibri (MS)"/>
                <a:cs typeface="Calibri (MS)"/>
                <a:sym typeface="Calibri (MS)"/>
              </a:rPr>
              <a:t>        </a:t>
            </a:r>
            <a:r>
              <a:rPr lang="en-US" sz="1867" dirty="0" err="1">
                <a:solidFill>
                  <a:srgbClr val="002060"/>
                </a:solidFill>
                <a:latin typeface="Bell MT" panose="02020503060305020303" pitchFamily="18" charset="0"/>
                <a:ea typeface="Calibri (MS)"/>
                <a:cs typeface="Calibri (MS)"/>
                <a:sym typeface="Calibri (MS)"/>
              </a:rPr>
              <a:t>System.out.println</a:t>
            </a:r>
            <a:r>
              <a:rPr lang="en-US" sz="1867" dirty="0">
                <a:solidFill>
                  <a:srgbClr val="002060"/>
                </a:solidFill>
                <a:latin typeface="Bell MT" panose="02020503060305020303" pitchFamily="18" charset="0"/>
                <a:ea typeface="Calibri (MS)"/>
                <a:cs typeface="Calibri (MS)"/>
                <a:sym typeface="Calibri (MS)"/>
              </a:rPr>
              <a:t>("Expenditure Per Person: ₹" + </a:t>
            </a:r>
            <a:r>
              <a:rPr lang="en-US" sz="1867" dirty="0" err="1">
                <a:solidFill>
                  <a:srgbClr val="002060"/>
                </a:solidFill>
                <a:latin typeface="Bell MT" panose="02020503060305020303" pitchFamily="18" charset="0"/>
                <a:ea typeface="Calibri (MS)"/>
                <a:cs typeface="Calibri (MS)"/>
                <a:sym typeface="Calibri (MS)"/>
              </a:rPr>
              <a:t>expenditurePerPerson</a:t>
            </a:r>
            <a:r>
              <a:rPr lang="en-US" sz="1867" dirty="0">
                <a:solidFill>
                  <a:srgbClr val="002060"/>
                </a:solidFill>
                <a:latin typeface="Bell MT" panose="02020503060305020303" pitchFamily="18" charset="0"/>
                <a:ea typeface="Calibri (MS)"/>
                <a:cs typeface="Calibri (MS)"/>
                <a:sym typeface="Calibri (MS)"/>
              </a:rPr>
              <a:t>);</a:t>
            </a:r>
          </a:p>
          <a:p>
            <a:pPr>
              <a:lnSpc>
                <a:spcPts val="1919"/>
              </a:lnSpc>
            </a:pPr>
            <a:endParaRPr lang="en-US" sz="1867" dirty="0">
              <a:solidFill>
                <a:srgbClr val="002060"/>
              </a:solidFill>
              <a:latin typeface="Bell MT" panose="02020503060305020303" pitchFamily="18" charset="0"/>
              <a:ea typeface="Calibri (MS)"/>
              <a:cs typeface="Calibri (MS)"/>
              <a:sym typeface="Calibri (MS)"/>
            </a:endParaRPr>
          </a:p>
          <a:p>
            <a:pPr>
              <a:lnSpc>
                <a:spcPts val="1919"/>
              </a:lnSpc>
            </a:pPr>
            <a:r>
              <a:rPr lang="en-US" sz="1867" dirty="0">
                <a:solidFill>
                  <a:srgbClr val="002060"/>
                </a:solidFill>
                <a:latin typeface="Bell MT" panose="02020503060305020303" pitchFamily="18" charset="0"/>
                <a:ea typeface="Calibri (MS)"/>
                <a:cs typeface="Calibri (MS)"/>
                <a:sym typeface="Calibri (MS)"/>
              </a:rPr>
              <a:t>        </a:t>
            </a:r>
            <a:r>
              <a:rPr lang="en-US" sz="1867" dirty="0" err="1">
                <a:solidFill>
                  <a:srgbClr val="002060"/>
                </a:solidFill>
                <a:latin typeface="Bell MT" panose="02020503060305020303" pitchFamily="18" charset="0"/>
                <a:ea typeface="Calibri (MS)"/>
                <a:cs typeface="Calibri (MS)"/>
                <a:sym typeface="Calibri (MS)"/>
              </a:rPr>
              <a:t>System.out.println</a:t>
            </a:r>
            <a:r>
              <a:rPr lang="en-US" sz="1867" dirty="0">
                <a:solidFill>
                  <a:srgbClr val="002060"/>
                </a:solidFill>
                <a:latin typeface="Bell MT" panose="02020503060305020303" pitchFamily="18" charset="0"/>
                <a:ea typeface="Calibri (MS)"/>
                <a:cs typeface="Calibri (MS)"/>
                <a:sym typeface="Calibri (MS)"/>
              </a:rPr>
              <a:t>("Monthly Savings: ₹" + </a:t>
            </a:r>
            <a:r>
              <a:rPr lang="en-US" sz="1867" dirty="0" err="1">
                <a:solidFill>
                  <a:srgbClr val="002060"/>
                </a:solidFill>
                <a:latin typeface="Bell MT" panose="02020503060305020303" pitchFamily="18" charset="0"/>
                <a:ea typeface="Calibri (MS)"/>
                <a:cs typeface="Calibri (MS)"/>
                <a:sym typeface="Calibri (MS)"/>
              </a:rPr>
              <a:t>monthlySavings</a:t>
            </a:r>
            <a:r>
              <a:rPr lang="en-US" sz="1867" dirty="0">
                <a:solidFill>
                  <a:srgbClr val="002060"/>
                </a:solidFill>
                <a:latin typeface="Bell MT" panose="02020503060305020303" pitchFamily="18" charset="0"/>
                <a:ea typeface="Calibri (MS)"/>
                <a:cs typeface="Calibri (MS)"/>
                <a:sym typeface="Calibri (MS)"/>
              </a:rPr>
              <a:t>);</a:t>
            </a:r>
          </a:p>
          <a:p>
            <a:pPr>
              <a:lnSpc>
                <a:spcPts val="1919"/>
              </a:lnSpc>
            </a:pPr>
            <a:r>
              <a:rPr lang="en-US" sz="1867" dirty="0">
                <a:solidFill>
                  <a:srgbClr val="002060"/>
                </a:solidFill>
                <a:latin typeface="Bell MT" panose="02020503060305020303" pitchFamily="18" charset="0"/>
                <a:ea typeface="Calibri (MS)"/>
                <a:cs typeface="Calibri (MS)"/>
                <a:sym typeface="Calibri (MS)"/>
              </a:rPr>
              <a:t>        </a:t>
            </a:r>
            <a:r>
              <a:rPr lang="en-US" sz="1867" dirty="0" err="1">
                <a:solidFill>
                  <a:srgbClr val="002060"/>
                </a:solidFill>
                <a:latin typeface="Bell MT" panose="02020503060305020303" pitchFamily="18" charset="0"/>
                <a:ea typeface="Calibri (MS)"/>
                <a:cs typeface="Calibri (MS)"/>
                <a:sym typeface="Calibri (MS)"/>
              </a:rPr>
              <a:t>System.out.println</a:t>
            </a:r>
            <a:r>
              <a:rPr lang="en-US" sz="1867" dirty="0">
                <a:solidFill>
                  <a:srgbClr val="002060"/>
                </a:solidFill>
                <a:latin typeface="Bell MT" panose="02020503060305020303" pitchFamily="18" charset="0"/>
                <a:ea typeface="Calibri (MS)"/>
                <a:cs typeface="Calibri (MS)"/>
                <a:sym typeface="Calibri (MS)"/>
              </a:rPr>
              <a:t>(</a:t>
            </a:r>
            <a:r>
              <a:rPr lang="en-US" sz="1867" b="1" dirty="0">
                <a:solidFill>
                  <a:srgbClr val="002060"/>
                </a:solidFill>
                <a:latin typeface="Bell MT" panose="02020503060305020303" pitchFamily="18" charset="0"/>
                <a:ea typeface="Calibri (MS)"/>
                <a:cs typeface="Calibri (MS)"/>
                <a:sym typeface="Calibri (MS)"/>
              </a:rPr>
              <a:t>“</a:t>
            </a:r>
            <a:r>
              <a:rPr lang="en-US" sz="1867" dirty="0">
                <a:solidFill>
                  <a:srgbClr val="002060"/>
                </a:solidFill>
                <a:latin typeface="Bell MT" panose="02020503060305020303" pitchFamily="18" charset="0"/>
                <a:ea typeface="Calibri (MS)"/>
                <a:cs typeface="Calibri (MS)"/>
                <a:sym typeface="Calibri (MS)"/>
              </a:rPr>
              <a:t>Savings Percentage:</a:t>
            </a:r>
            <a:r>
              <a:rPr lang="en-US" sz="1867" b="1" dirty="0">
                <a:solidFill>
                  <a:srgbClr val="002060"/>
                </a:solidFill>
                <a:latin typeface="Bell MT" panose="02020503060305020303" pitchFamily="18" charset="0"/>
                <a:ea typeface="Calibri (MS)"/>
                <a:cs typeface="Calibri (MS)"/>
                <a:sym typeface="Calibri (MS)"/>
              </a:rPr>
              <a:t>”</a:t>
            </a:r>
            <a:r>
              <a:rPr lang="en-US" sz="1867" dirty="0">
                <a:solidFill>
                  <a:srgbClr val="002060"/>
                </a:solidFill>
                <a:latin typeface="Bell MT" panose="02020503060305020303" pitchFamily="18" charset="0"/>
                <a:ea typeface="Calibri (MS)"/>
                <a:cs typeface="Calibri (MS)"/>
                <a:sym typeface="Calibri (MS)"/>
              </a:rPr>
              <a:t> + </a:t>
            </a:r>
            <a:r>
              <a:rPr lang="en-US" sz="1867" dirty="0" err="1">
                <a:solidFill>
                  <a:srgbClr val="002060"/>
                </a:solidFill>
                <a:latin typeface="Bell MT" panose="02020503060305020303" pitchFamily="18" charset="0"/>
                <a:ea typeface="Calibri (MS)"/>
                <a:cs typeface="Calibri (MS)"/>
                <a:sym typeface="Calibri (MS)"/>
              </a:rPr>
              <a:t>savingsPercentage</a:t>
            </a:r>
            <a:r>
              <a:rPr lang="en-US" sz="1867" dirty="0">
                <a:solidFill>
                  <a:srgbClr val="002060"/>
                </a:solidFill>
                <a:latin typeface="Bell MT" panose="02020503060305020303" pitchFamily="18" charset="0"/>
                <a:ea typeface="Calibri (MS)"/>
                <a:cs typeface="Calibri (MS)"/>
                <a:sym typeface="Calibri (MS)"/>
              </a:rPr>
              <a:t> + "%");</a:t>
            </a:r>
          </a:p>
          <a:p>
            <a:pPr>
              <a:lnSpc>
                <a:spcPts val="1919"/>
              </a:lnSpc>
            </a:pPr>
            <a:endParaRPr lang="en-US" sz="1867" dirty="0">
              <a:solidFill>
                <a:srgbClr val="002060"/>
              </a:solidFill>
              <a:latin typeface="Bell MT" panose="02020503060305020303" pitchFamily="18" charset="0"/>
              <a:ea typeface="Calibri (MS)"/>
              <a:cs typeface="Calibri (MS)"/>
              <a:sym typeface="Calibri (MS)"/>
            </a:endParaRPr>
          </a:p>
          <a:p>
            <a:pPr>
              <a:lnSpc>
                <a:spcPts val="1919"/>
              </a:lnSpc>
            </a:pPr>
            <a:r>
              <a:rPr lang="en-US" sz="1867" dirty="0">
                <a:solidFill>
                  <a:srgbClr val="002060"/>
                </a:solidFill>
                <a:latin typeface="Bell MT" panose="02020503060305020303" pitchFamily="18" charset="0"/>
                <a:ea typeface="Calibri (MS)"/>
                <a:cs typeface="Calibri (MS)"/>
                <a:sym typeface="Calibri (MS)"/>
              </a:rPr>
              <a:t>        // Budget status</a:t>
            </a:r>
          </a:p>
          <a:p>
            <a:pPr>
              <a:lnSpc>
                <a:spcPts val="1919"/>
              </a:lnSpc>
            </a:pPr>
            <a:r>
              <a:rPr lang="en-US" sz="1867" dirty="0">
                <a:solidFill>
                  <a:srgbClr val="002060"/>
                </a:solidFill>
                <a:latin typeface="Bell MT" panose="02020503060305020303" pitchFamily="18" charset="0"/>
                <a:ea typeface="Calibri (MS)"/>
                <a:cs typeface="Calibri (MS)"/>
                <a:sym typeface="Calibri (MS)"/>
              </a:rPr>
              <a:t>        if (</a:t>
            </a:r>
            <a:r>
              <a:rPr lang="en-US" sz="1867" dirty="0" err="1">
                <a:solidFill>
                  <a:srgbClr val="002060"/>
                </a:solidFill>
                <a:latin typeface="Bell MT" panose="02020503060305020303" pitchFamily="18" charset="0"/>
                <a:ea typeface="Calibri (MS)"/>
                <a:cs typeface="Calibri (MS)"/>
                <a:sym typeface="Calibri (MS)"/>
              </a:rPr>
              <a:t>totalExpenditure</a:t>
            </a:r>
            <a:r>
              <a:rPr lang="en-US" sz="1867" dirty="0">
                <a:solidFill>
                  <a:srgbClr val="002060"/>
                </a:solidFill>
                <a:latin typeface="Bell MT" panose="02020503060305020303" pitchFamily="18" charset="0"/>
                <a:ea typeface="Calibri (MS)"/>
                <a:cs typeface="Calibri (MS)"/>
                <a:sym typeface="Calibri (MS)"/>
              </a:rPr>
              <a:t> &gt; budget) {</a:t>
            </a:r>
          </a:p>
          <a:p>
            <a:pPr>
              <a:lnSpc>
                <a:spcPts val="1919"/>
              </a:lnSpc>
            </a:pPr>
            <a:r>
              <a:rPr lang="en-US" sz="1867" dirty="0">
                <a:solidFill>
                  <a:srgbClr val="002060"/>
                </a:solidFill>
                <a:latin typeface="Bell MT" panose="02020503060305020303" pitchFamily="18" charset="0"/>
                <a:ea typeface="Calibri (MS)"/>
                <a:cs typeface="Calibri (MS)"/>
                <a:sym typeface="Calibri (MS)"/>
              </a:rPr>
              <a:t>            </a:t>
            </a:r>
            <a:r>
              <a:rPr lang="en-US" sz="1867" dirty="0" err="1">
                <a:solidFill>
                  <a:srgbClr val="002060"/>
                </a:solidFill>
                <a:latin typeface="Bell MT" panose="02020503060305020303" pitchFamily="18" charset="0"/>
                <a:ea typeface="Calibri (MS)"/>
                <a:cs typeface="Calibri (MS)"/>
                <a:sym typeface="Calibri (MS)"/>
              </a:rPr>
              <a:t>System.out.println</a:t>
            </a:r>
            <a:r>
              <a:rPr lang="en-US" sz="1867" dirty="0">
                <a:solidFill>
                  <a:srgbClr val="002060"/>
                </a:solidFill>
                <a:latin typeface="Bell MT" panose="02020503060305020303" pitchFamily="18" charset="0"/>
                <a:ea typeface="Calibri (MS)"/>
                <a:cs typeface="Calibri (MS)"/>
                <a:sym typeface="Calibri (MS)"/>
              </a:rPr>
              <a:t>("Budget Status: Budget Exceeded!");</a:t>
            </a:r>
          </a:p>
          <a:p>
            <a:pPr>
              <a:lnSpc>
                <a:spcPts val="1919"/>
              </a:lnSpc>
            </a:pPr>
            <a:r>
              <a:rPr lang="en-US" sz="1867" dirty="0">
                <a:solidFill>
                  <a:srgbClr val="002060"/>
                </a:solidFill>
                <a:latin typeface="Bell MT" panose="02020503060305020303" pitchFamily="18" charset="0"/>
                <a:ea typeface="Calibri (MS)"/>
                <a:cs typeface="Calibri (MS)"/>
                <a:sym typeface="Calibri (MS)"/>
              </a:rPr>
              <a:t>        } else {</a:t>
            </a:r>
          </a:p>
          <a:p>
            <a:pPr>
              <a:lnSpc>
                <a:spcPts val="1919"/>
              </a:lnSpc>
            </a:pPr>
            <a:r>
              <a:rPr lang="en-US" sz="1867" dirty="0">
                <a:solidFill>
                  <a:srgbClr val="002060"/>
                </a:solidFill>
                <a:latin typeface="Bell MT" panose="02020503060305020303" pitchFamily="18" charset="0"/>
                <a:ea typeface="Calibri (MS)"/>
                <a:cs typeface="Calibri (MS)"/>
                <a:sym typeface="Calibri (MS)"/>
              </a:rPr>
              <a:t>            </a:t>
            </a:r>
            <a:r>
              <a:rPr lang="en-US" sz="1867" dirty="0" err="1">
                <a:solidFill>
                  <a:srgbClr val="002060"/>
                </a:solidFill>
                <a:latin typeface="Bell MT" panose="02020503060305020303" pitchFamily="18" charset="0"/>
                <a:ea typeface="Calibri (MS)"/>
                <a:cs typeface="Calibri (MS)"/>
                <a:sym typeface="Calibri (MS)"/>
              </a:rPr>
              <a:t>System.out.println</a:t>
            </a:r>
            <a:r>
              <a:rPr lang="en-US" sz="1867" dirty="0">
                <a:solidFill>
                  <a:srgbClr val="002060"/>
                </a:solidFill>
                <a:latin typeface="Bell MT" panose="02020503060305020303" pitchFamily="18" charset="0"/>
                <a:ea typeface="Calibri (MS)"/>
                <a:cs typeface="Calibri (MS)"/>
                <a:sym typeface="Calibri (MS)"/>
              </a:rPr>
              <a:t>("Budget Status: Within Budget");</a:t>
            </a:r>
          </a:p>
          <a:p>
            <a:pPr>
              <a:lnSpc>
                <a:spcPts val="1919"/>
              </a:lnSpc>
            </a:pPr>
            <a:r>
              <a:rPr lang="en-US" sz="1867" dirty="0">
                <a:solidFill>
                  <a:srgbClr val="002060"/>
                </a:solidFill>
                <a:latin typeface="Bell MT" panose="02020503060305020303" pitchFamily="18" charset="0"/>
                <a:ea typeface="Calibri (MS)"/>
                <a:cs typeface="Calibri (MS)"/>
                <a:sym typeface="Calibri (MS)"/>
              </a:rPr>
              <a:t>        }</a:t>
            </a:r>
          </a:p>
          <a:p>
            <a:pPr>
              <a:lnSpc>
                <a:spcPts val="1919"/>
              </a:lnSpc>
            </a:pPr>
            <a:endParaRPr lang="en-US" sz="1867" dirty="0">
              <a:solidFill>
                <a:srgbClr val="002060"/>
              </a:solidFill>
              <a:latin typeface="Bell MT" panose="02020503060305020303" pitchFamily="18" charset="0"/>
              <a:ea typeface="Calibri (MS)"/>
              <a:cs typeface="Calibri (MS)"/>
              <a:sym typeface="Calibri (MS)"/>
            </a:endParaRPr>
          </a:p>
          <a:p>
            <a:pPr>
              <a:lnSpc>
                <a:spcPts val="1919"/>
              </a:lnSpc>
            </a:pPr>
            <a:r>
              <a:rPr lang="en-US" sz="1867" dirty="0">
                <a:solidFill>
                  <a:srgbClr val="002060"/>
                </a:solidFill>
                <a:latin typeface="Bell MT" panose="02020503060305020303" pitchFamily="18" charset="0"/>
                <a:ea typeface="Calibri (MS)"/>
                <a:cs typeface="Calibri (MS)"/>
                <a:sym typeface="Calibri (MS)"/>
              </a:rPr>
              <a:t>        // Savings status</a:t>
            </a:r>
          </a:p>
          <a:p>
            <a:pPr>
              <a:lnSpc>
                <a:spcPts val="1919"/>
              </a:lnSpc>
            </a:pPr>
            <a:r>
              <a:rPr lang="en-US" sz="1867" dirty="0">
                <a:solidFill>
                  <a:srgbClr val="002060"/>
                </a:solidFill>
                <a:latin typeface="Bell MT" panose="02020503060305020303" pitchFamily="18" charset="0"/>
                <a:ea typeface="Calibri (MS)"/>
                <a:cs typeface="Calibri (MS)"/>
                <a:sym typeface="Calibri (MS)"/>
              </a:rPr>
              <a:t>        if (</a:t>
            </a:r>
            <a:r>
              <a:rPr lang="en-US" sz="1867" dirty="0" err="1">
                <a:solidFill>
                  <a:srgbClr val="002060"/>
                </a:solidFill>
                <a:latin typeface="Bell MT" panose="02020503060305020303" pitchFamily="18" charset="0"/>
                <a:ea typeface="Calibri (MS)"/>
                <a:cs typeface="Calibri (MS)"/>
                <a:sym typeface="Calibri (MS)"/>
              </a:rPr>
              <a:t>monthlySavings</a:t>
            </a:r>
            <a:r>
              <a:rPr lang="en-US" sz="1867" dirty="0">
                <a:solidFill>
                  <a:srgbClr val="002060"/>
                </a:solidFill>
                <a:latin typeface="Bell MT" panose="02020503060305020303" pitchFamily="18" charset="0"/>
                <a:ea typeface="Calibri (MS)"/>
                <a:cs typeface="Calibri (MS)"/>
                <a:sym typeface="Calibri (MS)"/>
              </a:rPr>
              <a:t> &gt; 0) {</a:t>
            </a:r>
          </a:p>
          <a:p>
            <a:pPr>
              <a:lnSpc>
                <a:spcPts val="1919"/>
              </a:lnSpc>
            </a:pPr>
            <a:r>
              <a:rPr lang="en-US" sz="1867" dirty="0">
                <a:solidFill>
                  <a:srgbClr val="002060"/>
                </a:solidFill>
                <a:latin typeface="Bell MT" panose="02020503060305020303" pitchFamily="18" charset="0"/>
                <a:ea typeface="Calibri (MS)"/>
                <a:cs typeface="Calibri (MS)"/>
                <a:sym typeface="Calibri (MS)"/>
              </a:rPr>
              <a:t>            </a:t>
            </a:r>
            <a:r>
              <a:rPr lang="en-US" sz="1867" dirty="0" err="1">
                <a:solidFill>
                  <a:srgbClr val="002060"/>
                </a:solidFill>
                <a:latin typeface="Bell MT" panose="02020503060305020303" pitchFamily="18" charset="0"/>
                <a:ea typeface="Calibri (MS)"/>
                <a:cs typeface="Calibri (MS)"/>
                <a:sym typeface="Calibri (MS)"/>
              </a:rPr>
              <a:t>System.out.println</a:t>
            </a:r>
            <a:r>
              <a:rPr lang="en-US" sz="1867" dirty="0">
                <a:solidFill>
                  <a:srgbClr val="002060"/>
                </a:solidFill>
                <a:latin typeface="Bell MT" panose="02020503060305020303" pitchFamily="18" charset="0"/>
                <a:ea typeface="Calibri (MS)"/>
                <a:cs typeface="Calibri (MS)"/>
                <a:sym typeface="Calibri (MS)"/>
              </a:rPr>
              <a:t>("Savings Status: You have savings.");</a:t>
            </a:r>
          </a:p>
          <a:p>
            <a:pPr>
              <a:lnSpc>
                <a:spcPts val="1919"/>
              </a:lnSpc>
            </a:pPr>
            <a:r>
              <a:rPr lang="en-US" sz="1867" dirty="0">
                <a:solidFill>
                  <a:srgbClr val="002060"/>
                </a:solidFill>
                <a:latin typeface="Bell MT" panose="02020503060305020303" pitchFamily="18" charset="0"/>
                <a:ea typeface="Calibri (MS)"/>
                <a:cs typeface="Calibri (MS)"/>
                <a:sym typeface="Calibri (MS)"/>
              </a:rPr>
              <a:t>        } else if (</a:t>
            </a:r>
            <a:r>
              <a:rPr lang="en-US" sz="1867" dirty="0" err="1">
                <a:solidFill>
                  <a:srgbClr val="002060"/>
                </a:solidFill>
                <a:latin typeface="Bell MT" panose="02020503060305020303" pitchFamily="18" charset="0"/>
                <a:ea typeface="Calibri (MS)"/>
                <a:cs typeface="Calibri (MS)"/>
                <a:sym typeface="Calibri (MS)"/>
              </a:rPr>
              <a:t>monthlySavings</a:t>
            </a:r>
            <a:r>
              <a:rPr lang="en-US" sz="1867" dirty="0">
                <a:solidFill>
                  <a:srgbClr val="002060"/>
                </a:solidFill>
                <a:latin typeface="Bell MT" panose="02020503060305020303" pitchFamily="18" charset="0"/>
                <a:ea typeface="Calibri (MS)"/>
                <a:cs typeface="Calibri (MS)"/>
                <a:sym typeface="Calibri (MS)"/>
              </a:rPr>
              <a:t> == 0) {</a:t>
            </a:r>
          </a:p>
          <a:p>
            <a:pPr>
              <a:lnSpc>
                <a:spcPts val="1919"/>
              </a:lnSpc>
            </a:pPr>
            <a:r>
              <a:rPr lang="en-US" sz="1867" dirty="0">
                <a:solidFill>
                  <a:srgbClr val="002060"/>
                </a:solidFill>
                <a:latin typeface="Bell MT" panose="02020503060305020303" pitchFamily="18" charset="0"/>
                <a:ea typeface="Calibri (MS)"/>
                <a:cs typeface="Calibri (MS)"/>
                <a:sym typeface="Calibri (MS)"/>
              </a:rPr>
              <a:t>            </a:t>
            </a:r>
            <a:r>
              <a:rPr lang="en-US" sz="1867" dirty="0" err="1">
                <a:solidFill>
                  <a:srgbClr val="002060"/>
                </a:solidFill>
                <a:latin typeface="Bell MT" panose="02020503060305020303" pitchFamily="18" charset="0"/>
                <a:ea typeface="Calibri (MS)"/>
                <a:cs typeface="Calibri (MS)"/>
                <a:sym typeface="Calibri (MS)"/>
              </a:rPr>
              <a:t>System.out.println</a:t>
            </a:r>
            <a:r>
              <a:rPr lang="en-US" sz="1867" dirty="0">
                <a:solidFill>
                  <a:srgbClr val="002060"/>
                </a:solidFill>
                <a:latin typeface="Bell MT" panose="02020503060305020303" pitchFamily="18" charset="0"/>
                <a:ea typeface="Calibri (MS)"/>
                <a:cs typeface="Calibri (MS)"/>
                <a:sym typeface="Calibri (MS)"/>
              </a:rPr>
              <a:t>("Savings Status: No savings.");</a:t>
            </a:r>
          </a:p>
          <a:p>
            <a:pPr>
              <a:lnSpc>
                <a:spcPts val="1919"/>
              </a:lnSpc>
            </a:pPr>
            <a:r>
              <a:rPr lang="en-US" sz="1867" dirty="0">
                <a:solidFill>
                  <a:srgbClr val="002060"/>
                </a:solidFill>
                <a:latin typeface="Bell MT" panose="02020503060305020303" pitchFamily="18" charset="0"/>
                <a:ea typeface="Calibri (MS)"/>
                <a:cs typeface="Calibri (MS)"/>
                <a:sym typeface="Calibri (MS)"/>
              </a:rPr>
              <a:t>           }</a:t>
            </a:r>
          </a:p>
          <a:p>
            <a:pPr>
              <a:lnSpc>
                <a:spcPts val="1919"/>
              </a:lnSpc>
            </a:pPr>
            <a:r>
              <a:rPr lang="en-US" sz="1867" dirty="0">
                <a:solidFill>
                  <a:srgbClr val="002060"/>
                </a:solidFill>
                <a:latin typeface="Bell MT" panose="02020503060305020303" pitchFamily="18" charset="0"/>
                <a:ea typeface="Calibri (MS)"/>
                <a:cs typeface="Calibri (MS)"/>
                <a:sym typeface="Calibri (MS)"/>
              </a:rPr>
              <a:t>         </a:t>
            </a:r>
            <a:r>
              <a:rPr lang="en-US" sz="1867" dirty="0" err="1">
                <a:solidFill>
                  <a:srgbClr val="002060"/>
                </a:solidFill>
                <a:latin typeface="Bell MT" panose="02020503060305020303" pitchFamily="18" charset="0"/>
                <a:ea typeface="Calibri (MS)"/>
                <a:cs typeface="Calibri (MS)"/>
                <a:sym typeface="Calibri (MS)"/>
              </a:rPr>
              <a:t>sc.close</a:t>
            </a:r>
            <a:r>
              <a:rPr lang="en-US" sz="1867" dirty="0">
                <a:solidFill>
                  <a:srgbClr val="002060"/>
                </a:solidFill>
                <a:latin typeface="Bell MT" panose="02020503060305020303" pitchFamily="18" charset="0"/>
                <a:ea typeface="Calibri (MS)"/>
                <a:cs typeface="Calibri (MS)"/>
                <a:sym typeface="Calibri (MS)"/>
              </a:rPr>
              <a:t>();</a:t>
            </a:r>
          </a:p>
          <a:p>
            <a:pPr>
              <a:lnSpc>
                <a:spcPts val="1919"/>
              </a:lnSpc>
            </a:pPr>
            <a:r>
              <a:rPr lang="en-US" sz="1867" dirty="0">
                <a:solidFill>
                  <a:srgbClr val="002060"/>
                </a:solidFill>
                <a:latin typeface="Bell MT" panose="02020503060305020303" pitchFamily="18" charset="0"/>
                <a:ea typeface="Calibri (MS)"/>
                <a:cs typeface="Calibri (MS)"/>
                <a:sym typeface="Calibri (MS)"/>
              </a:rPr>
              <a:t>       }</a:t>
            </a:r>
          </a:p>
          <a:p>
            <a:pPr>
              <a:lnSpc>
                <a:spcPts val="1919"/>
              </a:lnSpc>
            </a:pPr>
            <a:r>
              <a:rPr lang="en-US" sz="1867" dirty="0">
                <a:solidFill>
                  <a:srgbClr val="002060"/>
                </a:solidFill>
                <a:latin typeface="Bell MT" panose="02020503060305020303" pitchFamily="18" charset="0"/>
                <a:ea typeface="Calibri (MS)"/>
                <a:cs typeface="Calibri (MS)"/>
                <a:sym typeface="Calibri (MS)"/>
              </a:rPr>
              <a:t>   }</a:t>
            </a:r>
          </a:p>
          <a:p>
            <a:pPr>
              <a:lnSpc>
                <a:spcPts val="1919"/>
              </a:lnSpc>
            </a:pPr>
            <a:endParaRPr lang="en-US" sz="1867" dirty="0">
              <a:solidFill>
                <a:srgbClr val="002060"/>
              </a:solidFill>
              <a:latin typeface="Bell MT" panose="02020503060305020303" pitchFamily="18" charset="0"/>
              <a:ea typeface="Calibri (MS)"/>
              <a:cs typeface="Calibri (MS)"/>
              <a:sym typeface="Calibri (M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851D1E10-3D9E-A76B-D77F-22FE04A1AF0D}"/>
              </a:ext>
            </a:extLst>
          </p:cNvPr>
          <p:cNvSpPr/>
          <p:nvPr/>
        </p:nvSpPr>
        <p:spPr>
          <a:xfrm>
            <a:off x="-6626" y="-18774"/>
            <a:ext cx="12192000" cy="6858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US" sz="1200" dirty="0">
              <a:latin typeface="Bell MT" panose="02020503060305020303" pitchFamily="18" charset="0"/>
            </a:endParaRPr>
          </a:p>
        </p:txBody>
      </p:sp>
      <p:sp>
        <p:nvSpPr>
          <p:cNvPr id="5" name="TextBox 4">
            <a:extLst>
              <a:ext uri="{FF2B5EF4-FFF2-40B4-BE49-F238E27FC236}">
                <a16:creationId xmlns:a16="http://schemas.microsoft.com/office/drawing/2014/main" id="{AA486B61-FCB0-5304-3B84-9A6D1E626A2D}"/>
              </a:ext>
            </a:extLst>
          </p:cNvPr>
          <p:cNvSpPr txBox="1"/>
          <p:nvPr/>
        </p:nvSpPr>
        <p:spPr>
          <a:xfrm>
            <a:off x="203200" y="838200"/>
            <a:ext cx="6100417" cy="5755422"/>
          </a:xfrm>
          <a:prstGeom prst="rect">
            <a:avLst/>
          </a:prstGeom>
          <a:noFill/>
        </p:spPr>
        <p:txBody>
          <a:bodyPr wrap="square">
            <a:spAutoFit/>
          </a:bodyPr>
          <a:lstStyle/>
          <a:p>
            <a:r>
              <a:rPr lang="en-US" sz="1600" dirty="0">
                <a:solidFill>
                  <a:srgbClr val="002060"/>
                </a:solidFill>
                <a:latin typeface="Bell MT" panose="02020503060305020303" pitchFamily="18" charset="0"/>
              </a:rPr>
              <a:t>Enter number of family members: 4</a:t>
            </a:r>
          </a:p>
          <a:p>
            <a:r>
              <a:rPr lang="en-US" sz="1600" dirty="0">
                <a:solidFill>
                  <a:srgbClr val="002060"/>
                </a:solidFill>
                <a:latin typeface="Bell MT" panose="02020503060305020303" pitchFamily="18" charset="0"/>
              </a:rPr>
              <a:t>Enter monthly income: ₹50000</a:t>
            </a:r>
          </a:p>
          <a:p>
            <a:r>
              <a:rPr lang="en-US" sz="1600" dirty="0">
                <a:solidFill>
                  <a:srgbClr val="002060"/>
                </a:solidFill>
                <a:latin typeface="Bell MT" panose="02020503060305020303" pitchFamily="18" charset="0"/>
              </a:rPr>
              <a:t>Enter monthly budget: ₹40000</a:t>
            </a:r>
          </a:p>
          <a:p>
            <a:endParaRPr lang="en-US" sz="1600" dirty="0">
              <a:solidFill>
                <a:srgbClr val="002060"/>
              </a:solidFill>
              <a:latin typeface="Bell MT" panose="02020503060305020303" pitchFamily="18" charset="0"/>
            </a:endParaRPr>
          </a:p>
          <a:p>
            <a:r>
              <a:rPr lang="en-US" sz="1600" dirty="0">
                <a:solidFill>
                  <a:srgbClr val="002060"/>
                </a:solidFill>
                <a:latin typeface="Bell MT" panose="02020503060305020303" pitchFamily="18" charset="0"/>
              </a:rPr>
              <a:t>Enter food expenditure: ₹8000</a:t>
            </a:r>
          </a:p>
          <a:p>
            <a:r>
              <a:rPr lang="en-US" sz="1600" dirty="0">
                <a:solidFill>
                  <a:srgbClr val="002060"/>
                </a:solidFill>
                <a:latin typeface="Bell MT" panose="02020503060305020303" pitchFamily="18" charset="0"/>
              </a:rPr>
              <a:t>Enter house rent expenditure: ₹15000</a:t>
            </a:r>
          </a:p>
          <a:p>
            <a:r>
              <a:rPr lang="en-US" sz="1600" dirty="0">
                <a:solidFill>
                  <a:srgbClr val="002060"/>
                </a:solidFill>
                <a:latin typeface="Bell MT" panose="02020503060305020303" pitchFamily="18" charset="0"/>
              </a:rPr>
              <a:t>Enter education expenditure: ₹5000</a:t>
            </a:r>
          </a:p>
          <a:p>
            <a:r>
              <a:rPr lang="en-US" sz="1600" dirty="0">
                <a:solidFill>
                  <a:srgbClr val="002060"/>
                </a:solidFill>
                <a:latin typeface="Bell MT" panose="02020503060305020303" pitchFamily="18" charset="0"/>
              </a:rPr>
              <a:t>Enter transport expenditure: ₹4000</a:t>
            </a:r>
          </a:p>
          <a:p>
            <a:r>
              <a:rPr lang="en-US" sz="1600" dirty="0">
                <a:solidFill>
                  <a:srgbClr val="002060"/>
                </a:solidFill>
                <a:latin typeface="Bell MT" panose="02020503060305020303" pitchFamily="18" charset="0"/>
              </a:rPr>
              <a:t>Enter medical expenditure: ₹2000</a:t>
            </a:r>
          </a:p>
          <a:p>
            <a:r>
              <a:rPr lang="en-US" sz="1600" dirty="0">
                <a:solidFill>
                  <a:srgbClr val="002060"/>
                </a:solidFill>
                <a:latin typeface="Bell MT" panose="02020503060305020303" pitchFamily="18" charset="0"/>
              </a:rPr>
              <a:t>Enter other expenditure: ₹3000</a:t>
            </a:r>
          </a:p>
          <a:p>
            <a:endParaRPr lang="en-US" sz="1600" dirty="0">
              <a:solidFill>
                <a:srgbClr val="002060"/>
              </a:solidFill>
              <a:latin typeface="Bell MT" panose="02020503060305020303" pitchFamily="18" charset="0"/>
            </a:endParaRPr>
          </a:p>
          <a:p>
            <a:r>
              <a:rPr lang="en-US" sz="1600" dirty="0">
                <a:solidFill>
                  <a:srgbClr val="002060"/>
                </a:solidFill>
                <a:latin typeface="Bell MT" panose="02020503060305020303" pitchFamily="18" charset="0"/>
              </a:rPr>
              <a:t>===== MONTHLY EXPENSE REPORT =====</a:t>
            </a:r>
          </a:p>
          <a:p>
            <a:r>
              <a:rPr lang="en-US" sz="1600" dirty="0">
                <a:solidFill>
                  <a:srgbClr val="002060"/>
                </a:solidFill>
                <a:latin typeface="Bell MT" panose="02020503060305020303" pitchFamily="18" charset="0"/>
              </a:rPr>
              <a:t>Family Members: 4</a:t>
            </a:r>
          </a:p>
          <a:p>
            <a:r>
              <a:rPr lang="en-US" sz="1600" dirty="0">
                <a:solidFill>
                  <a:srgbClr val="002060"/>
                </a:solidFill>
                <a:latin typeface="Bell MT" panose="02020503060305020303" pitchFamily="18" charset="0"/>
              </a:rPr>
              <a:t>Monthly Income: ₹50000.0</a:t>
            </a:r>
          </a:p>
          <a:p>
            <a:r>
              <a:rPr lang="en-US" sz="1600" dirty="0">
                <a:solidFill>
                  <a:srgbClr val="002060"/>
                </a:solidFill>
                <a:latin typeface="Bell MT" panose="02020503060305020303" pitchFamily="18" charset="0"/>
              </a:rPr>
              <a:t>Monthly Budget: ₹40000.0</a:t>
            </a:r>
          </a:p>
          <a:p>
            <a:endParaRPr lang="en-US" sz="1600" dirty="0">
              <a:solidFill>
                <a:srgbClr val="002060"/>
              </a:solidFill>
              <a:latin typeface="Bell MT" panose="02020503060305020303" pitchFamily="18" charset="0"/>
            </a:endParaRPr>
          </a:p>
          <a:p>
            <a:r>
              <a:rPr lang="en-US" sz="1600" dirty="0">
                <a:solidFill>
                  <a:srgbClr val="002060"/>
                </a:solidFill>
                <a:latin typeface="Bell MT" panose="02020503060305020303" pitchFamily="18" charset="0"/>
              </a:rPr>
              <a:t>Total Expenditure: ₹37000.0</a:t>
            </a:r>
          </a:p>
          <a:p>
            <a:r>
              <a:rPr lang="en-US" sz="1600" dirty="0">
                <a:solidFill>
                  <a:srgbClr val="002060"/>
                </a:solidFill>
                <a:latin typeface="Bell MT" panose="02020503060305020303" pitchFamily="18" charset="0"/>
              </a:rPr>
              <a:t>Expenditure Per Person: ₹9250.0</a:t>
            </a:r>
          </a:p>
          <a:p>
            <a:r>
              <a:rPr lang="en-US" sz="1600" dirty="0">
                <a:solidFill>
                  <a:srgbClr val="002060"/>
                </a:solidFill>
                <a:latin typeface="Bell MT" panose="02020503060305020303" pitchFamily="18" charset="0"/>
              </a:rPr>
              <a:t>Monthly Savings: ₹13000.0</a:t>
            </a:r>
          </a:p>
          <a:p>
            <a:r>
              <a:rPr lang="en-US" sz="1600" dirty="0">
                <a:solidFill>
                  <a:srgbClr val="002060"/>
                </a:solidFill>
                <a:latin typeface="Bell MT" panose="02020503060305020303" pitchFamily="18" charset="0"/>
              </a:rPr>
              <a:t>Savings Percentage: 26.0%</a:t>
            </a:r>
          </a:p>
          <a:p>
            <a:endParaRPr lang="en-US" sz="1600" dirty="0">
              <a:solidFill>
                <a:srgbClr val="002060"/>
              </a:solidFill>
              <a:latin typeface="Bell MT" panose="02020503060305020303" pitchFamily="18" charset="0"/>
            </a:endParaRPr>
          </a:p>
          <a:p>
            <a:r>
              <a:rPr lang="en-US" sz="1600" dirty="0">
                <a:solidFill>
                  <a:srgbClr val="002060"/>
                </a:solidFill>
                <a:latin typeface="Bell MT" panose="02020503060305020303" pitchFamily="18" charset="0"/>
              </a:rPr>
              <a:t>Budget Status: Within Budget</a:t>
            </a:r>
          </a:p>
          <a:p>
            <a:r>
              <a:rPr lang="en-US" sz="1600" dirty="0">
                <a:solidFill>
                  <a:srgbClr val="002060"/>
                </a:solidFill>
                <a:latin typeface="Bell MT" panose="02020503060305020303" pitchFamily="18" charset="0"/>
              </a:rPr>
              <a:t>Savings Status: You have savings.</a:t>
            </a:r>
          </a:p>
        </p:txBody>
      </p:sp>
      <p:sp>
        <p:nvSpPr>
          <p:cNvPr id="7" name="TextBox 6">
            <a:extLst>
              <a:ext uri="{FF2B5EF4-FFF2-40B4-BE49-F238E27FC236}">
                <a16:creationId xmlns:a16="http://schemas.microsoft.com/office/drawing/2014/main" id="{9C100610-3909-FE62-CA19-C00297A553B9}"/>
              </a:ext>
            </a:extLst>
          </p:cNvPr>
          <p:cNvSpPr txBox="1"/>
          <p:nvPr/>
        </p:nvSpPr>
        <p:spPr>
          <a:xfrm>
            <a:off x="203200" y="204209"/>
            <a:ext cx="1159292" cy="461665"/>
          </a:xfrm>
          <a:prstGeom prst="rect">
            <a:avLst/>
          </a:prstGeom>
          <a:noFill/>
        </p:spPr>
        <p:txBody>
          <a:bodyPr wrap="none" rtlCol="0">
            <a:spAutoFit/>
          </a:bodyPr>
          <a:lstStyle/>
          <a:p>
            <a:r>
              <a:rPr lang="en-US" sz="2400" b="1" dirty="0">
                <a:solidFill>
                  <a:schemeClr val="accent5">
                    <a:lumMod val="50000"/>
                  </a:schemeClr>
                </a:solidFill>
                <a:latin typeface="Bell MT" panose="02020503060305020303" pitchFamily="18" charset="0"/>
              </a:rPr>
              <a:t>Output</a:t>
            </a:r>
          </a:p>
        </p:txBody>
      </p:sp>
    </p:spTree>
    <p:extLst>
      <p:ext uri="{BB962C8B-B14F-4D97-AF65-F5344CB8AC3E}">
        <p14:creationId xmlns:p14="http://schemas.microsoft.com/office/powerpoint/2010/main" val="40076776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rot="1800">
            <a:off x="-9525" y="1814589"/>
            <a:ext cx="12211050" cy="0"/>
          </a:xfrm>
          <a:prstGeom prst="line">
            <a:avLst/>
          </a:prstGeom>
          <a:ln w="9525" cap="rnd">
            <a:solidFill>
              <a:srgbClr val="000000"/>
            </a:solidFill>
            <a:prstDash val="solid"/>
            <a:headEnd type="none" w="sm" len="sm"/>
            <a:tailEnd type="none" w="sm" len="sm"/>
          </a:ln>
        </p:spPr>
      </p:sp>
      <p:sp>
        <p:nvSpPr>
          <p:cNvPr id="3" name="TextBox 3"/>
          <p:cNvSpPr txBox="1"/>
          <p:nvPr/>
        </p:nvSpPr>
        <p:spPr>
          <a:xfrm>
            <a:off x="289560" y="280874"/>
            <a:ext cx="5974080" cy="487313"/>
          </a:xfrm>
          <a:prstGeom prst="rect">
            <a:avLst/>
          </a:prstGeom>
        </p:spPr>
        <p:txBody>
          <a:bodyPr lIns="0" tIns="0" rIns="0" bIns="0" rtlCol="0" anchor="t">
            <a:spAutoFit/>
          </a:bodyPr>
          <a:lstStyle/>
          <a:p>
            <a:pPr>
              <a:lnSpc>
                <a:spcPts val="3838"/>
              </a:lnSpc>
            </a:pPr>
            <a:r>
              <a:rPr lang="en-US" sz="3200" spc="-27">
                <a:solidFill>
                  <a:srgbClr val="000000"/>
                </a:solidFill>
                <a:latin typeface="Bell MT" panose="02020503060305020303" pitchFamily="18" charset="0"/>
                <a:ea typeface="EB Garamond"/>
                <a:cs typeface="EB Garamond"/>
                <a:sym typeface="EB Garamond"/>
              </a:rPr>
              <a:t>Geo Tag Photo and git hub link</a:t>
            </a:r>
          </a:p>
        </p:txBody>
      </p:sp>
      <p:sp>
        <p:nvSpPr>
          <p:cNvPr id="4" name="TextBox 4"/>
          <p:cNvSpPr txBox="1"/>
          <p:nvPr/>
        </p:nvSpPr>
        <p:spPr>
          <a:xfrm>
            <a:off x="399625" y="1024795"/>
            <a:ext cx="5974080" cy="278474"/>
          </a:xfrm>
          <a:prstGeom prst="rect">
            <a:avLst/>
          </a:prstGeom>
        </p:spPr>
        <p:txBody>
          <a:bodyPr lIns="0" tIns="0" rIns="0" bIns="0" rtlCol="0" anchor="t">
            <a:spAutoFit/>
          </a:bodyPr>
          <a:lstStyle/>
          <a:p>
            <a:pPr>
              <a:lnSpc>
                <a:spcPts val="2160"/>
              </a:lnSpc>
            </a:pPr>
            <a:r>
              <a:rPr lang="en-US" spc="-15" dirty="0">
                <a:solidFill>
                  <a:srgbClr val="000000"/>
                </a:solidFill>
                <a:latin typeface="Bell MT" panose="02020503060305020303" pitchFamily="18" charset="0"/>
                <a:ea typeface="EB Garamond"/>
                <a:cs typeface="EB Garamond"/>
                <a:sym typeface="EB Garamond"/>
              </a:rPr>
              <a:t>https://github.com/jittapriyandhavi/Monthly-Expenses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2192000" cy="6858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9259" b="-9259"/>
              </a:stretch>
            </a:blipFill>
          </p:spPr>
        </p:sp>
      </p:grpSp>
      <p:sp>
        <p:nvSpPr>
          <p:cNvPr id="4" name="TextBox 4"/>
          <p:cNvSpPr txBox="1"/>
          <p:nvPr/>
        </p:nvSpPr>
        <p:spPr>
          <a:xfrm>
            <a:off x="5319909" y="3187655"/>
            <a:ext cx="4937043" cy="2051844"/>
          </a:xfrm>
          <a:prstGeom prst="rect">
            <a:avLst/>
          </a:prstGeom>
        </p:spPr>
        <p:txBody>
          <a:bodyPr lIns="0" tIns="0" rIns="0" bIns="0" rtlCol="0" anchor="t">
            <a:spAutoFit/>
          </a:bodyPr>
          <a:lstStyle/>
          <a:p>
            <a:pPr algn="ctr">
              <a:lnSpc>
                <a:spcPts val="8007"/>
              </a:lnSpc>
            </a:pPr>
            <a:r>
              <a:rPr lang="en-US" sz="6674" b="1">
                <a:solidFill>
                  <a:srgbClr val="000000"/>
                </a:solidFill>
                <a:latin typeface="Arial Nova Bold"/>
                <a:ea typeface="Arial Nova Bold"/>
                <a:cs typeface="Arial Nova Bold"/>
                <a:sym typeface="Arial Nova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1301</Words>
  <Application>Microsoft Office PowerPoint</Application>
  <PresentationFormat>Widescreen</PresentationFormat>
  <Paragraphs>178</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Aptos</vt:lpstr>
      <vt:lpstr>Aptos Display</vt:lpstr>
      <vt:lpstr>Arial</vt:lpstr>
      <vt:lpstr>Arial Nova Bold</vt:lpstr>
      <vt:lpstr>Bell MT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Divya Peruri</dc:creator>
  <cp:lastModifiedBy>Divya Peruri</cp:lastModifiedBy>
  <cp:revision>1</cp:revision>
  <dcterms:created xsi:type="dcterms:W3CDTF">2026-09-21T08:13:30Z</dcterms:created>
  <dcterms:modified xsi:type="dcterms:W3CDTF">2026-09-21T08:14:17Z</dcterms:modified>
</cp:coreProperties>
</file>